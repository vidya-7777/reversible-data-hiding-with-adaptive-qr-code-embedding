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9753600" cy="7315200"/>
  <p:notesSz cx="6858000" cy="9144000"/>
  <p:embeddedFontLst>
    <p:embeddedFont>
      <p:font typeface="Poppins Bold" charset="1" panose="00000800000000000000"/>
      <p:regular r:id="rId17"/>
    </p:embeddedFont>
    <p:embeddedFont>
      <p:font typeface="Montserrat" charset="1" panose="00000500000000000000"/>
      <p:regular r:id="rId18"/>
    </p:embeddedFont>
    <p:embeddedFont>
      <p:font typeface="Poppins" charset="1" panose="00000500000000000000"/>
      <p:regular r:id="rId19"/>
    </p:embeddedFont>
    <p:embeddedFont>
      <p:font typeface="Montserrat Bold" charset="1" panose="000008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AEDED"/>
        </a:solidFill>
      </p:bgPr>
    </p:bg>
    <p:spTree>
      <p:nvGrpSpPr>
        <p:cNvPr id="1" name=""/>
        <p:cNvGrpSpPr/>
        <p:nvPr/>
      </p:nvGrpSpPr>
      <p:grpSpPr>
        <a:xfrm>
          <a:off x="0" y="0"/>
          <a:ext cx="0" cy="0"/>
          <a:chOff x="0" y="0"/>
          <a:chExt cx="0" cy="0"/>
        </a:xfrm>
      </p:grpSpPr>
      <p:sp>
        <p:nvSpPr>
          <p:cNvPr name="Freeform 2" id="2"/>
          <p:cNvSpPr/>
          <p:nvPr/>
        </p:nvSpPr>
        <p:spPr>
          <a:xfrm flipH="false" flipV="false" rot="0">
            <a:off x="230806" y="385184"/>
            <a:ext cx="9296714" cy="6541506"/>
          </a:xfrm>
          <a:custGeom>
            <a:avLst/>
            <a:gdLst/>
            <a:ahLst/>
            <a:cxnLst/>
            <a:rect r="r" b="b" t="t" l="l"/>
            <a:pathLst>
              <a:path h="6541506" w="9296714">
                <a:moveTo>
                  <a:pt x="0" y="0"/>
                </a:moveTo>
                <a:lnTo>
                  <a:pt x="9296714" y="0"/>
                </a:lnTo>
                <a:lnTo>
                  <a:pt x="9296714" y="6541506"/>
                </a:lnTo>
                <a:lnTo>
                  <a:pt x="0" y="6541506"/>
                </a:lnTo>
                <a:lnTo>
                  <a:pt x="0" y="0"/>
                </a:lnTo>
                <a:close/>
              </a:path>
            </a:pathLst>
          </a:custGeom>
          <a:blipFill>
            <a:blip r:embed="rId2"/>
            <a:stretch>
              <a:fillRect l="0" t="0" r="0" b="0"/>
            </a:stretch>
          </a:blipFill>
        </p:spPr>
      </p:sp>
      <p:sp>
        <p:nvSpPr>
          <p:cNvPr name="TextBox 3" id="3"/>
          <p:cNvSpPr txBox="true"/>
          <p:nvPr/>
        </p:nvSpPr>
        <p:spPr>
          <a:xfrm rot="0">
            <a:off x="2451055" y="1233952"/>
            <a:ext cx="4851490" cy="652740"/>
          </a:xfrm>
          <a:prstGeom prst="rect">
            <a:avLst/>
          </a:prstGeom>
        </p:spPr>
        <p:txBody>
          <a:bodyPr anchor="t" rtlCol="false" tIns="0" lIns="0" bIns="0" rIns="0">
            <a:spAutoFit/>
          </a:bodyPr>
          <a:lstStyle/>
          <a:p>
            <a:pPr algn="ctr">
              <a:lnSpc>
                <a:spcPts val="2582"/>
              </a:lnSpc>
            </a:pPr>
            <a:r>
              <a:rPr lang="en-US" b="true" sz="1986">
                <a:solidFill>
                  <a:srgbClr val="000000"/>
                </a:solidFill>
                <a:latin typeface="Poppins Bold"/>
                <a:ea typeface="Poppins Bold"/>
                <a:cs typeface="Poppins Bold"/>
                <a:sym typeface="Poppins Bold"/>
              </a:rPr>
              <a:t>SWE1010 - DIGITAL IMAGE PROCESSING</a:t>
            </a:r>
          </a:p>
          <a:p>
            <a:pPr algn="ctr">
              <a:lnSpc>
                <a:spcPts val="2582"/>
              </a:lnSpc>
              <a:spcBef>
                <a:spcPct val="0"/>
              </a:spcBef>
            </a:pPr>
          </a:p>
        </p:txBody>
      </p:sp>
      <p:sp>
        <p:nvSpPr>
          <p:cNvPr name="TextBox 4" id="4"/>
          <p:cNvSpPr txBox="true"/>
          <p:nvPr/>
        </p:nvSpPr>
        <p:spPr>
          <a:xfrm rot="0">
            <a:off x="1784036" y="2932634"/>
            <a:ext cx="6190254" cy="1398982"/>
          </a:xfrm>
          <a:prstGeom prst="rect">
            <a:avLst/>
          </a:prstGeom>
        </p:spPr>
        <p:txBody>
          <a:bodyPr anchor="t" rtlCol="false" tIns="0" lIns="0" bIns="0" rIns="0">
            <a:spAutoFit/>
          </a:bodyPr>
          <a:lstStyle/>
          <a:p>
            <a:pPr algn="ctr">
              <a:lnSpc>
                <a:spcPts val="3733"/>
              </a:lnSpc>
              <a:spcBef>
                <a:spcPct val="0"/>
              </a:spcBef>
            </a:pPr>
            <a:r>
              <a:rPr lang="en-US" b="true" sz="2872">
                <a:solidFill>
                  <a:srgbClr val="000000"/>
                </a:solidFill>
                <a:latin typeface="Poppins Bold"/>
                <a:ea typeface="Poppins Bold"/>
                <a:cs typeface="Poppins Bold"/>
                <a:sym typeface="Poppins Bold"/>
              </a:rPr>
              <a:t>REVE</a:t>
            </a:r>
            <a:r>
              <a:rPr lang="en-US" b="true" sz="2872">
                <a:solidFill>
                  <a:srgbClr val="000000"/>
                </a:solidFill>
                <a:latin typeface="Poppins Bold"/>
                <a:ea typeface="Poppins Bold"/>
                <a:cs typeface="Poppins Bold"/>
                <a:sym typeface="Poppins Bold"/>
              </a:rPr>
              <a:t>RSIBLE DATA HIDING (RDH) </a:t>
            </a:r>
          </a:p>
          <a:p>
            <a:pPr algn="ctr">
              <a:lnSpc>
                <a:spcPts val="3733"/>
              </a:lnSpc>
              <a:spcBef>
                <a:spcPct val="0"/>
              </a:spcBef>
            </a:pPr>
            <a:r>
              <a:rPr lang="en-US" b="true" sz="2872">
                <a:solidFill>
                  <a:srgbClr val="000000"/>
                </a:solidFill>
                <a:latin typeface="Poppins Bold"/>
                <a:ea typeface="Poppins Bold"/>
                <a:cs typeface="Poppins Bold"/>
                <a:sym typeface="Poppins Bold"/>
              </a:rPr>
              <a:t>SYSTEM USING QR-BASED ADAPTIVE EMBEDDING</a:t>
            </a:r>
          </a:p>
        </p:txBody>
      </p:sp>
      <p:sp>
        <p:nvSpPr>
          <p:cNvPr name="TextBox 5" id="5"/>
          <p:cNvSpPr txBox="true"/>
          <p:nvPr/>
        </p:nvSpPr>
        <p:spPr>
          <a:xfrm rot="0">
            <a:off x="6151905" y="5636496"/>
            <a:ext cx="2952270" cy="791030"/>
          </a:xfrm>
          <a:prstGeom prst="rect">
            <a:avLst/>
          </a:prstGeom>
        </p:spPr>
        <p:txBody>
          <a:bodyPr anchor="t" rtlCol="false" tIns="0" lIns="0" bIns="0" rIns="0">
            <a:spAutoFit/>
          </a:bodyPr>
          <a:lstStyle/>
          <a:p>
            <a:pPr algn="ctr">
              <a:lnSpc>
                <a:spcPts val="2106"/>
              </a:lnSpc>
            </a:pPr>
            <a:r>
              <a:rPr lang="en-US" b="true" sz="1620">
                <a:solidFill>
                  <a:srgbClr val="000000"/>
                </a:solidFill>
                <a:latin typeface="Poppins Bold"/>
                <a:ea typeface="Poppins Bold"/>
                <a:cs typeface="Poppins Bold"/>
                <a:sym typeface="Poppins Bold"/>
              </a:rPr>
              <a:t>23MIA1039 - VISHNU PRIYA A</a:t>
            </a:r>
          </a:p>
          <a:p>
            <a:pPr algn="ctr">
              <a:lnSpc>
                <a:spcPts val="2106"/>
              </a:lnSpc>
            </a:pPr>
            <a:r>
              <a:rPr lang="en-US" b="true" sz="1620">
                <a:solidFill>
                  <a:srgbClr val="000000"/>
                </a:solidFill>
                <a:latin typeface="Poppins Bold"/>
                <a:ea typeface="Poppins Bold"/>
                <a:cs typeface="Poppins Bold"/>
                <a:sym typeface="Poppins Bold"/>
              </a:rPr>
              <a:t>23MIA1044 - PRAVESHIKA M</a:t>
            </a:r>
          </a:p>
          <a:p>
            <a:pPr algn="ctr">
              <a:lnSpc>
                <a:spcPts val="2106"/>
              </a:lnSpc>
              <a:spcBef>
                <a:spcPct val="0"/>
              </a:spcBef>
            </a:pPr>
            <a:r>
              <a:rPr lang="en-US" b="true" sz="1620">
                <a:solidFill>
                  <a:srgbClr val="000000"/>
                </a:solidFill>
                <a:latin typeface="Poppins Bold"/>
                <a:ea typeface="Poppins Bold"/>
                <a:cs typeface="Poppins Bold"/>
                <a:sym typeface="Poppins Bold"/>
              </a:rPr>
              <a:t>23MIA1176 - TARLANA VIDYA</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AEDED"/>
        </a:solidFill>
      </p:bgPr>
    </p:bg>
    <p:spTree>
      <p:nvGrpSpPr>
        <p:cNvPr id="1" name=""/>
        <p:cNvGrpSpPr/>
        <p:nvPr/>
      </p:nvGrpSpPr>
      <p:grpSpPr>
        <a:xfrm>
          <a:off x="0" y="0"/>
          <a:ext cx="0" cy="0"/>
          <a:chOff x="0" y="0"/>
          <a:chExt cx="0" cy="0"/>
        </a:xfrm>
      </p:grpSpPr>
      <p:grpSp>
        <p:nvGrpSpPr>
          <p:cNvPr name="Group 2" id="2"/>
          <p:cNvGrpSpPr/>
          <p:nvPr/>
        </p:nvGrpSpPr>
        <p:grpSpPr>
          <a:xfrm rot="0">
            <a:off x="2122201" y="694004"/>
            <a:ext cx="5494188" cy="1092162"/>
            <a:chOff x="0" y="0"/>
            <a:chExt cx="1873350" cy="372394"/>
          </a:xfrm>
        </p:grpSpPr>
        <p:sp>
          <p:nvSpPr>
            <p:cNvPr name="Freeform 3" id="3"/>
            <p:cNvSpPr/>
            <p:nvPr/>
          </p:nvSpPr>
          <p:spPr>
            <a:xfrm flipH="false" flipV="false" rot="0">
              <a:off x="0" y="0"/>
              <a:ext cx="1873350" cy="372394"/>
            </a:xfrm>
            <a:custGeom>
              <a:avLst/>
              <a:gdLst/>
              <a:ahLst/>
              <a:cxnLst/>
              <a:rect r="r" b="b" t="t" l="l"/>
              <a:pathLst>
                <a:path h="372394" w="1873350">
                  <a:moveTo>
                    <a:pt x="0" y="0"/>
                  </a:moveTo>
                  <a:lnTo>
                    <a:pt x="1873350" y="0"/>
                  </a:lnTo>
                  <a:lnTo>
                    <a:pt x="1873350" y="372394"/>
                  </a:lnTo>
                  <a:lnTo>
                    <a:pt x="0" y="372394"/>
                  </a:lnTo>
                  <a:close/>
                </a:path>
              </a:pathLst>
            </a:custGeom>
            <a:solidFill>
              <a:srgbClr val="000000">
                <a:alpha val="0"/>
              </a:srgbClr>
            </a:solidFill>
            <a:ln w="19050" cap="sq">
              <a:solidFill>
                <a:srgbClr val="004AAD"/>
              </a:solidFill>
              <a:prstDash val="solid"/>
              <a:miter/>
            </a:ln>
          </p:spPr>
        </p:sp>
        <p:sp>
          <p:nvSpPr>
            <p:cNvPr name="TextBox 4" id="4"/>
            <p:cNvSpPr txBox="true"/>
            <p:nvPr/>
          </p:nvSpPr>
          <p:spPr>
            <a:xfrm>
              <a:off x="0" y="-28575"/>
              <a:ext cx="1873350" cy="400969"/>
            </a:xfrm>
            <a:prstGeom prst="rect">
              <a:avLst/>
            </a:prstGeom>
          </p:spPr>
          <p:txBody>
            <a:bodyPr anchor="ctr" rtlCol="false" tIns="50800" lIns="50800" bIns="50800" rIns="50800"/>
            <a:lstStyle/>
            <a:p>
              <a:pPr algn="ctr">
                <a:lnSpc>
                  <a:spcPts val="1460"/>
                </a:lnSpc>
              </a:pPr>
            </a:p>
          </p:txBody>
        </p:sp>
      </p:grpSp>
      <p:sp>
        <p:nvSpPr>
          <p:cNvPr name="TextBox 5" id="5"/>
          <p:cNvSpPr txBox="true"/>
          <p:nvPr/>
        </p:nvSpPr>
        <p:spPr>
          <a:xfrm rot="0">
            <a:off x="2738526" y="1117415"/>
            <a:ext cx="4261538" cy="717645"/>
          </a:xfrm>
          <a:prstGeom prst="rect">
            <a:avLst/>
          </a:prstGeom>
        </p:spPr>
        <p:txBody>
          <a:bodyPr anchor="t" rtlCol="false" tIns="0" lIns="0" bIns="0" rIns="0">
            <a:spAutoFit/>
          </a:bodyPr>
          <a:lstStyle/>
          <a:p>
            <a:pPr algn="ctr">
              <a:lnSpc>
                <a:spcPts val="5578"/>
              </a:lnSpc>
            </a:pPr>
            <a:r>
              <a:rPr lang="en-US" b="true" sz="3984">
                <a:solidFill>
                  <a:srgbClr val="004AAD"/>
                </a:solidFill>
                <a:latin typeface="Poppins Bold"/>
                <a:ea typeface="Poppins Bold"/>
                <a:cs typeface="Poppins Bold"/>
                <a:sym typeface="Poppins Bold"/>
              </a:rPr>
              <a:t>MOTIVATION</a:t>
            </a:r>
          </a:p>
        </p:txBody>
      </p:sp>
      <p:sp>
        <p:nvSpPr>
          <p:cNvPr name="TextBox 6" id="6"/>
          <p:cNvSpPr txBox="true"/>
          <p:nvPr/>
        </p:nvSpPr>
        <p:spPr>
          <a:xfrm rot="0">
            <a:off x="2348726" y="589229"/>
            <a:ext cx="5056148" cy="642486"/>
          </a:xfrm>
          <a:prstGeom prst="rect">
            <a:avLst/>
          </a:prstGeom>
        </p:spPr>
        <p:txBody>
          <a:bodyPr anchor="t" rtlCol="false" tIns="0" lIns="0" bIns="0" rIns="0">
            <a:spAutoFit/>
          </a:bodyPr>
          <a:lstStyle/>
          <a:p>
            <a:pPr algn="ctr">
              <a:lnSpc>
                <a:spcPts val="5012"/>
              </a:lnSpc>
            </a:pPr>
            <a:r>
              <a:rPr lang="en-US" b="true" sz="3580">
                <a:solidFill>
                  <a:srgbClr val="FF9F29"/>
                </a:solidFill>
                <a:latin typeface="Poppins Bold"/>
                <a:ea typeface="Poppins Bold"/>
                <a:cs typeface="Poppins Bold"/>
                <a:sym typeface="Poppins Bold"/>
              </a:rPr>
              <a:t>PROBLEM STATEMENT </a:t>
            </a:r>
          </a:p>
        </p:txBody>
      </p:sp>
      <p:sp>
        <p:nvSpPr>
          <p:cNvPr name="TextBox 7" id="7"/>
          <p:cNvSpPr txBox="true"/>
          <p:nvPr/>
        </p:nvSpPr>
        <p:spPr>
          <a:xfrm rot="0">
            <a:off x="901392" y="2325996"/>
            <a:ext cx="8120688" cy="4424844"/>
          </a:xfrm>
          <a:prstGeom prst="rect">
            <a:avLst/>
          </a:prstGeom>
        </p:spPr>
        <p:txBody>
          <a:bodyPr anchor="t" rtlCol="false" tIns="0" lIns="0" bIns="0" rIns="0">
            <a:spAutoFit/>
          </a:bodyPr>
          <a:lstStyle/>
          <a:p>
            <a:pPr algn="l" marL="396621" indent="-198310" lvl="1">
              <a:lnSpc>
                <a:spcPts val="2388"/>
              </a:lnSpc>
              <a:buFont typeface="Arial"/>
              <a:buChar char="•"/>
            </a:pPr>
            <a:r>
              <a:rPr lang="en-US" sz="1837">
                <a:solidFill>
                  <a:srgbClr val="000000"/>
                </a:solidFill>
                <a:latin typeface="Montserrat"/>
                <a:ea typeface="Montserrat"/>
                <a:cs typeface="Montserrat"/>
                <a:sym typeface="Montserrat"/>
              </a:rPr>
              <a:t>This project presents a Reversible Data Hiding (RDH) System using QR-based Adaptive Embedding.</a:t>
            </a:r>
          </a:p>
          <a:p>
            <a:pPr algn="l">
              <a:lnSpc>
                <a:spcPts val="2388"/>
              </a:lnSpc>
            </a:pPr>
          </a:p>
          <a:p>
            <a:pPr algn="l" marL="396621" indent="-198310" lvl="1">
              <a:lnSpc>
                <a:spcPts val="2388"/>
              </a:lnSpc>
              <a:buFont typeface="Arial"/>
              <a:buChar char="•"/>
            </a:pPr>
            <a:r>
              <a:rPr lang="en-US" sz="1837">
                <a:solidFill>
                  <a:srgbClr val="000000"/>
                </a:solidFill>
                <a:latin typeface="Montserrat"/>
                <a:ea typeface="Montserrat"/>
                <a:cs typeface="Montserrat"/>
                <a:sym typeface="Montserrat"/>
              </a:rPr>
              <a:t> In modern digital communication, data hiding techniques are essential for secure image transmission and copyright protection.</a:t>
            </a:r>
          </a:p>
          <a:p>
            <a:pPr algn="l">
              <a:lnSpc>
                <a:spcPts val="2388"/>
              </a:lnSpc>
            </a:pPr>
          </a:p>
          <a:p>
            <a:pPr algn="l" marL="396621" indent="-198310" lvl="1">
              <a:lnSpc>
                <a:spcPts val="2388"/>
              </a:lnSpc>
              <a:buFont typeface="Arial"/>
              <a:buChar char="•"/>
            </a:pPr>
            <a:r>
              <a:rPr lang="en-US" sz="1837">
                <a:solidFill>
                  <a:srgbClr val="000000"/>
                </a:solidFill>
                <a:latin typeface="Montserrat"/>
                <a:ea typeface="Montserrat"/>
                <a:cs typeface="Montserrat"/>
                <a:sym typeface="Montserrat"/>
              </a:rPr>
              <a:t> However, most conventional watermarking approaches are irreversible, meaning that once data is embedded, the original image cannot be fully recovered.</a:t>
            </a:r>
          </a:p>
          <a:p>
            <a:pPr algn="l">
              <a:lnSpc>
                <a:spcPts val="2388"/>
              </a:lnSpc>
            </a:pPr>
          </a:p>
          <a:p>
            <a:pPr algn="l" marL="396621" indent="-198310" lvl="1">
              <a:lnSpc>
                <a:spcPts val="2388"/>
              </a:lnSpc>
              <a:buFont typeface="Arial"/>
              <a:buChar char="•"/>
            </a:pPr>
            <a:r>
              <a:rPr lang="en-US" sz="1837">
                <a:solidFill>
                  <a:srgbClr val="000000"/>
                </a:solidFill>
                <a:latin typeface="Montserrat"/>
                <a:ea typeface="Montserrat"/>
                <a:cs typeface="Montserrat"/>
                <a:sym typeface="Montserrat"/>
              </a:rPr>
              <a:t> The proposed system addresses this limitation by introducing a reversible embedding mechanism that allows both the hidden data and the original image to be perfectly restored, thereby ensuring high security and maintaining image fidelity, especially in sensitive images such as Medical X-rays, CT-scans, etc</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AEDED"/>
        </a:solidFill>
      </p:bgPr>
    </p:bg>
    <p:spTree>
      <p:nvGrpSpPr>
        <p:cNvPr id="1" name=""/>
        <p:cNvGrpSpPr/>
        <p:nvPr/>
      </p:nvGrpSpPr>
      <p:grpSpPr>
        <a:xfrm>
          <a:off x="0" y="0"/>
          <a:ext cx="0" cy="0"/>
          <a:chOff x="0" y="0"/>
          <a:chExt cx="0" cy="0"/>
        </a:xfrm>
      </p:grpSpPr>
      <p:grpSp>
        <p:nvGrpSpPr>
          <p:cNvPr name="Group 2" id="2"/>
          <p:cNvGrpSpPr/>
          <p:nvPr/>
        </p:nvGrpSpPr>
        <p:grpSpPr>
          <a:xfrm rot="0">
            <a:off x="2694466" y="342615"/>
            <a:ext cx="4364668" cy="1299592"/>
            <a:chOff x="0" y="0"/>
            <a:chExt cx="1488219" cy="443121"/>
          </a:xfrm>
        </p:grpSpPr>
        <p:sp>
          <p:nvSpPr>
            <p:cNvPr name="Freeform 3" id="3"/>
            <p:cNvSpPr/>
            <p:nvPr/>
          </p:nvSpPr>
          <p:spPr>
            <a:xfrm flipH="false" flipV="false" rot="0">
              <a:off x="0" y="0"/>
              <a:ext cx="1488219" cy="443121"/>
            </a:xfrm>
            <a:custGeom>
              <a:avLst/>
              <a:gdLst/>
              <a:ahLst/>
              <a:cxnLst/>
              <a:rect r="r" b="b" t="t" l="l"/>
              <a:pathLst>
                <a:path h="443121" w="1488219">
                  <a:moveTo>
                    <a:pt x="0" y="0"/>
                  </a:moveTo>
                  <a:lnTo>
                    <a:pt x="1488219" y="0"/>
                  </a:lnTo>
                  <a:lnTo>
                    <a:pt x="1488219" y="443121"/>
                  </a:lnTo>
                  <a:lnTo>
                    <a:pt x="0" y="443121"/>
                  </a:lnTo>
                  <a:close/>
                </a:path>
              </a:pathLst>
            </a:custGeom>
            <a:solidFill>
              <a:srgbClr val="000000">
                <a:alpha val="0"/>
              </a:srgbClr>
            </a:solidFill>
            <a:ln w="19050" cap="sq">
              <a:solidFill>
                <a:srgbClr val="004AAD"/>
              </a:solidFill>
              <a:prstDash val="solid"/>
              <a:miter/>
            </a:ln>
          </p:spPr>
        </p:sp>
        <p:sp>
          <p:nvSpPr>
            <p:cNvPr name="TextBox 4" id="4"/>
            <p:cNvSpPr txBox="true"/>
            <p:nvPr/>
          </p:nvSpPr>
          <p:spPr>
            <a:xfrm>
              <a:off x="0" y="-28575"/>
              <a:ext cx="1488219" cy="471696"/>
            </a:xfrm>
            <a:prstGeom prst="rect">
              <a:avLst/>
            </a:prstGeom>
          </p:spPr>
          <p:txBody>
            <a:bodyPr anchor="ctr" rtlCol="false" tIns="50800" lIns="50800" bIns="50800" rIns="50800"/>
            <a:lstStyle/>
            <a:p>
              <a:pPr algn="ctr">
                <a:lnSpc>
                  <a:spcPts val="1460"/>
                </a:lnSpc>
              </a:pPr>
            </a:p>
          </p:txBody>
        </p:sp>
      </p:grpSp>
      <p:sp>
        <p:nvSpPr>
          <p:cNvPr name="TextBox 5" id="5"/>
          <p:cNvSpPr txBox="true"/>
          <p:nvPr/>
        </p:nvSpPr>
        <p:spPr>
          <a:xfrm rot="0">
            <a:off x="2043514" y="878111"/>
            <a:ext cx="5666572" cy="684819"/>
          </a:xfrm>
          <a:prstGeom prst="rect">
            <a:avLst/>
          </a:prstGeom>
        </p:spPr>
        <p:txBody>
          <a:bodyPr anchor="t" rtlCol="false" tIns="0" lIns="0" bIns="0" rIns="0">
            <a:spAutoFit/>
          </a:bodyPr>
          <a:lstStyle/>
          <a:p>
            <a:pPr algn="ctr">
              <a:lnSpc>
                <a:spcPts val="5304"/>
              </a:lnSpc>
            </a:pPr>
            <a:r>
              <a:rPr lang="en-US" b="true" sz="3788">
                <a:solidFill>
                  <a:srgbClr val="004AAD"/>
                </a:solidFill>
                <a:latin typeface="Poppins Bold"/>
                <a:ea typeface="Poppins Bold"/>
                <a:cs typeface="Poppins Bold"/>
                <a:sym typeface="Poppins Bold"/>
              </a:rPr>
              <a:t>SUMMARY</a:t>
            </a:r>
          </a:p>
        </p:txBody>
      </p:sp>
      <p:sp>
        <p:nvSpPr>
          <p:cNvPr name="TextBox 6" id="6"/>
          <p:cNvSpPr txBox="true"/>
          <p:nvPr/>
        </p:nvSpPr>
        <p:spPr>
          <a:xfrm rot="0">
            <a:off x="3221783" y="312398"/>
            <a:ext cx="3310035" cy="680013"/>
          </a:xfrm>
          <a:prstGeom prst="rect">
            <a:avLst/>
          </a:prstGeom>
        </p:spPr>
        <p:txBody>
          <a:bodyPr anchor="t" rtlCol="false" tIns="0" lIns="0" bIns="0" rIns="0">
            <a:spAutoFit/>
          </a:bodyPr>
          <a:lstStyle/>
          <a:p>
            <a:pPr algn="ctr">
              <a:lnSpc>
                <a:spcPts val="5361"/>
              </a:lnSpc>
            </a:pPr>
            <a:r>
              <a:rPr lang="en-US" b="true" sz="3829">
                <a:solidFill>
                  <a:srgbClr val="FF9F29"/>
                </a:solidFill>
                <a:latin typeface="Poppins Bold"/>
                <a:ea typeface="Poppins Bold"/>
                <a:cs typeface="Poppins Bold"/>
                <a:sym typeface="Poppins Bold"/>
              </a:rPr>
              <a:t>BASE PAPER</a:t>
            </a:r>
          </a:p>
        </p:txBody>
      </p:sp>
      <p:sp>
        <p:nvSpPr>
          <p:cNvPr name="TextBox 7" id="7"/>
          <p:cNvSpPr txBox="true"/>
          <p:nvPr/>
        </p:nvSpPr>
        <p:spPr>
          <a:xfrm rot="0">
            <a:off x="731520" y="1863561"/>
            <a:ext cx="8493054" cy="4720119"/>
          </a:xfrm>
          <a:prstGeom prst="rect">
            <a:avLst/>
          </a:prstGeom>
        </p:spPr>
        <p:txBody>
          <a:bodyPr anchor="t" rtlCol="false" tIns="0" lIns="0" bIns="0" rIns="0">
            <a:spAutoFit/>
          </a:bodyPr>
          <a:lstStyle/>
          <a:p>
            <a:pPr algn="l">
              <a:lnSpc>
                <a:spcPts val="2388"/>
              </a:lnSpc>
            </a:pPr>
            <a:r>
              <a:rPr lang="en-US" sz="1837">
                <a:solidFill>
                  <a:srgbClr val="000000"/>
                </a:solidFill>
                <a:latin typeface="Montserrat"/>
                <a:ea typeface="Montserrat"/>
                <a:cs typeface="Montserrat"/>
                <a:sym typeface="Montserrat"/>
              </a:rPr>
              <a:t>The base model employs a simple Least Significant Bit (LSB) technique for data embedding, which offers an easy and direct approach to hide information within images. However, while effective for small payloads, this method often struggles to maintain image quality and robustness when handling larger data. The proposed QR-based reversible data hiding model builds upon this foundation by introducing region-based embedding and reversible recovery mechanisms. Unlike the basic LSB model, it ensures complete image restoration after extraction, achieving pixel-wise identical recovery with infinite PSNR and SSIM of 1.0000. Additionally, the use of a QR code as the payload enhances both embedding structure and data validity, as the code remains fully scannable post-embedding. This model achieves higher payload capacity (around 80,000 bits) and improved visual fidelity (PSNR = 17.37 dB, SSIM = 0.9576) without compromising reversibility, making it suitable not only for general images but also for sensitive applications such as medical imaging where accuracy and lossless reconstruction are crucial.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AEDED"/>
        </a:solidFill>
      </p:bgPr>
    </p:bg>
    <p:spTree>
      <p:nvGrpSpPr>
        <p:cNvPr id="1" name=""/>
        <p:cNvGrpSpPr/>
        <p:nvPr/>
      </p:nvGrpSpPr>
      <p:grpSpPr>
        <a:xfrm>
          <a:off x="0" y="0"/>
          <a:ext cx="0" cy="0"/>
          <a:chOff x="0" y="0"/>
          <a:chExt cx="0" cy="0"/>
        </a:xfrm>
      </p:grpSpPr>
      <p:grpSp>
        <p:nvGrpSpPr>
          <p:cNvPr name="Group 2" id="2"/>
          <p:cNvGrpSpPr/>
          <p:nvPr/>
        </p:nvGrpSpPr>
        <p:grpSpPr>
          <a:xfrm rot="0">
            <a:off x="0" y="2105659"/>
            <a:ext cx="8414638" cy="3947644"/>
            <a:chOff x="0" y="0"/>
            <a:chExt cx="11219517" cy="5263525"/>
          </a:xfrm>
        </p:grpSpPr>
        <p:grpSp>
          <p:nvGrpSpPr>
            <p:cNvPr name="Group 3" id="3"/>
            <p:cNvGrpSpPr/>
            <p:nvPr/>
          </p:nvGrpSpPr>
          <p:grpSpPr>
            <a:xfrm rot="0">
              <a:off x="0" y="0"/>
              <a:ext cx="11219517" cy="5263525"/>
              <a:chOff x="0" y="0"/>
              <a:chExt cx="22666320" cy="10633680"/>
            </a:xfrm>
          </p:grpSpPr>
          <p:sp>
            <p:nvSpPr>
              <p:cNvPr name="Freeform 4" id="4"/>
              <p:cNvSpPr/>
              <p:nvPr/>
            </p:nvSpPr>
            <p:spPr>
              <a:xfrm flipH="false" flipV="false" rot="0">
                <a:off x="0" y="0"/>
                <a:ext cx="22666198" cy="10633583"/>
              </a:xfrm>
              <a:custGeom>
                <a:avLst/>
                <a:gdLst/>
                <a:ahLst/>
                <a:cxnLst/>
                <a:rect r="r" b="b" t="t" l="l"/>
                <a:pathLst>
                  <a:path h="10633583" w="22666198">
                    <a:moveTo>
                      <a:pt x="7313422" y="5072126"/>
                    </a:moveTo>
                    <a:cubicBezTo>
                      <a:pt x="8336026" y="5072126"/>
                      <a:pt x="9167622" y="5901563"/>
                      <a:pt x="9167622" y="6925945"/>
                    </a:cubicBezTo>
                    <a:lnTo>
                      <a:pt x="9167622" y="7652004"/>
                    </a:lnTo>
                    <a:lnTo>
                      <a:pt x="9167622" y="7769352"/>
                    </a:lnTo>
                    <a:lnTo>
                      <a:pt x="9167622" y="8779764"/>
                    </a:lnTo>
                    <a:cubicBezTo>
                      <a:pt x="9167622" y="9181592"/>
                      <a:pt x="9493885" y="9505823"/>
                      <a:pt x="9893808" y="9505823"/>
                    </a:cubicBezTo>
                    <a:cubicBezTo>
                      <a:pt x="10295636" y="9505823"/>
                      <a:pt x="10619994" y="9179560"/>
                      <a:pt x="10619994" y="8779764"/>
                    </a:cubicBezTo>
                    <a:lnTo>
                      <a:pt x="10619994" y="8228838"/>
                    </a:lnTo>
                    <a:lnTo>
                      <a:pt x="10619994" y="5513705"/>
                    </a:lnTo>
                    <a:lnTo>
                      <a:pt x="10619994" y="5209413"/>
                    </a:lnTo>
                    <a:cubicBezTo>
                      <a:pt x="10619994" y="4187063"/>
                      <a:pt x="11449558" y="3355594"/>
                      <a:pt x="12474194" y="3355594"/>
                    </a:cubicBezTo>
                    <a:cubicBezTo>
                      <a:pt x="13496798" y="3355594"/>
                      <a:pt x="14328394" y="4185031"/>
                      <a:pt x="14328394" y="5209413"/>
                    </a:cubicBezTo>
                    <a:lnTo>
                      <a:pt x="14328394" y="5509768"/>
                    </a:lnTo>
                    <a:lnTo>
                      <a:pt x="14328394" y="6862318"/>
                    </a:lnTo>
                    <a:cubicBezTo>
                      <a:pt x="14328394" y="7264146"/>
                      <a:pt x="14654657" y="7588377"/>
                      <a:pt x="15054580" y="7588377"/>
                    </a:cubicBezTo>
                    <a:cubicBezTo>
                      <a:pt x="15456408" y="7588377"/>
                      <a:pt x="15780765" y="7262114"/>
                      <a:pt x="15780765" y="6862318"/>
                    </a:cubicBezTo>
                    <a:lnTo>
                      <a:pt x="15780765" y="6512306"/>
                    </a:lnTo>
                    <a:lnTo>
                      <a:pt x="15780765" y="3604260"/>
                    </a:lnTo>
                    <a:lnTo>
                      <a:pt x="15780765" y="3353562"/>
                    </a:lnTo>
                    <a:cubicBezTo>
                      <a:pt x="15780765" y="2331212"/>
                      <a:pt x="16610330" y="1499743"/>
                      <a:pt x="17634965" y="1499743"/>
                    </a:cubicBezTo>
                    <a:cubicBezTo>
                      <a:pt x="18657570" y="1499743"/>
                      <a:pt x="19489165" y="2329180"/>
                      <a:pt x="19489165" y="3353562"/>
                    </a:cubicBezTo>
                    <a:lnTo>
                      <a:pt x="19489165" y="3655949"/>
                    </a:lnTo>
                    <a:lnTo>
                      <a:pt x="19489165" y="4817618"/>
                    </a:lnTo>
                    <a:lnTo>
                      <a:pt x="19489165" y="4952873"/>
                    </a:lnTo>
                    <a:cubicBezTo>
                      <a:pt x="19489165" y="5354701"/>
                      <a:pt x="19815429" y="5678932"/>
                      <a:pt x="20215352" y="5678932"/>
                    </a:cubicBezTo>
                    <a:cubicBezTo>
                      <a:pt x="20617180" y="5678932"/>
                      <a:pt x="20941537" y="5352669"/>
                      <a:pt x="20941537" y="4952873"/>
                    </a:cubicBezTo>
                    <a:lnTo>
                      <a:pt x="20941537" y="1332738"/>
                    </a:lnTo>
                    <a:lnTo>
                      <a:pt x="20342733" y="1332738"/>
                    </a:lnTo>
                    <a:lnTo>
                      <a:pt x="20923631" y="666369"/>
                    </a:lnTo>
                    <a:lnTo>
                      <a:pt x="21504402" y="0"/>
                    </a:lnTo>
                    <a:lnTo>
                      <a:pt x="22085300" y="666369"/>
                    </a:lnTo>
                    <a:lnTo>
                      <a:pt x="22666198" y="1332738"/>
                    </a:lnTo>
                    <a:lnTo>
                      <a:pt x="22067520" y="1332738"/>
                    </a:lnTo>
                    <a:lnTo>
                      <a:pt x="22067520" y="4950841"/>
                    </a:lnTo>
                    <a:cubicBezTo>
                      <a:pt x="22067520" y="5973191"/>
                      <a:pt x="21237956" y="6804660"/>
                      <a:pt x="20213320" y="6804660"/>
                    </a:cubicBezTo>
                    <a:cubicBezTo>
                      <a:pt x="19190715" y="6804660"/>
                      <a:pt x="18359120" y="5975223"/>
                      <a:pt x="18359120" y="4950841"/>
                    </a:cubicBezTo>
                    <a:lnTo>
                      <a:pt x="18359120" y="4815586"/>
                    </a:lnTo>
                    <a:lnTo>
                      <a:pt x="18359120" y="3653917"/>
                    </a:lnTo>
                    <a:lnTo>
                      <a:pt x="18359120" y="3351657"/>
                    </a:lnTo>
                    <a:cubicBezTo>
                      <a:pt x="18359120" y="2949829"/>
                      <a:pt x="18032857" y="2625598"/>
                      <a:pt x="17632933" y="2625598"/>
                    </a:cubicBezTo>
                    <a:cubicBezTo>
                      <a:pt x="17231106" y="2625598"/>
                      <a:pt x="16906748" y="2951861"/>
                      <a:pt x="16906748" y="3351657"/>
                    </a:cubicBezTo>
                    <a:lnTo>
                      <a:pt x="16906748" y="6510274"/>
                    </a:lnTo>
                    <a:lnTo>
                      <a:pt x="16906748" y="6862318"/>
                    </a:lnTo>
                    <a:cubicBezTo>
                      <a:pt x="16906748" y="7884668"/>
                      <a:pt x="16077183" y="8716137"/>
                      <a:pt x="15052548" y="8716137"/>
                    </a:cubicBezTo>
                    <a:cubicBezTo>
                      <a:pt x="14029944" y="8716137"/>
                      <a:pt x="13198348" y="7886700"/>
                      <a:pt x="13198348" y="6862318"/>
                    </a:cubicBezTo>
                    <a:lnTo>
                      <a:pt x="13198348" y="6416802"/>
                    </a:lnTo>
                    <a:lnTo>
                      <a:pt x="13198348" y="5207381"/>
                    </a:lnTo>
                    <a:cubicBezTo>
                      <a:pt x="13198348" y="4805553"/>
                      <a:pt x="12872085" y="4481322"/>
                      <a:pt x="12472162" y="4481322"/>
                    </a:cubicBezTo>
                    <a:cubicBezTo>
                      <a:pt x="12070334" y="4481322"/>
                      <a:pt x="11745976" y="4807585"/>
                      <a:pt x="11745976" y="5207381"/>
                    </a:cubicBezTo>
                    <a:lnTo>
                      <a:pt x="11745976" y="5511800"/>
                    </a:lnTo>
                    <a:lnTo>
                      <a:pt x="11745976" y="8228838"/>
                    </a:lnTo>
                    <a:lnTo>
                      <a:pt x="11745976" y="8779764"/>
                    </a:lnTo>
                    <a:cubicBezTo>
                      <a:pt x="11745976" y="9802114"/>
                      <a:pt x="10916412" y="10633583"/>
                      <a:pt x="9891776" y="10633583"/>
                    </a:cubicBezTo>
                    <a:cubicBezTo>
                      <a:pt x="8869172" y="10633583"/>
                      <a:pt x="8037576" y="9804146"/>
                      <a:pt x="8037576" y="8779764"/>
                    </a:cubicBezTo>
                    <a:lnTo>
                      <a:pt x="8037576" y="7769352"/>
                    </a:lnTo>
                    <a:lnTo>
                      <a:pt x="8037576" y="7652004"/>
                    </a:lnTo>
                    <a:lnTo>
                      <a:pt x="8037576" y="6925945"/>
                    </a:lnTo>
                    <a:cubicBezTo>
                      <a:pt x="8037576" y="6524117"/>
                      <a:pt x="7711313" y="6199886"/>
                      <a:pt x="7311389" y="6199886"/>
                    </a:cubicBezTo>
                    <a:cubicBezTo>
                      <a:pt x="6909562" y="6199886"/>
                      <a:pt x="6585203" y="6526149"/>
                      <a:pt x="6585203" y="6925945"/>
                    </a:cubicBezTo>
                    <a:lnTo>
                      <a:pt x="6585203" y="7777226"/>
                    </a:lnTo>
                    <a:cubicBezTo>
                      <a:pt x="6585203" y="8799576"/>
                      <a:pt x="5755640" y="9631045"/>
                      <a:pt x="4731004" y="9631045"/>
                    </a:cubicBezTo>
                    <a:lnTo>
                      <a:pt x="0" y="9631045"/>
                    </a:lnTo>
                    <a:lnTo>
                      <a:pt x="0" y="8503285"/>
                    </a:lnTo>
                    <a:lnTo>
                      <a:pt x="4733036" y="8503285"/>
                    </a:lnTo>
                    <a:cubicBezTo>
                      <a:pt x="5134864" y="8503285"/>
                      <a:pt x="5459222" y="8177022"/>
                      <a:pt x="5459222" y="7777226"/>
                    </a:cubicBezTo>
                    <a:lnTo>
                      <a:pt x="5459222" y="7230364"/>
                    </a:lnTo>
                    <a:lnTo>
                      <a:pt x="5459222" y="6926072"/>
                    </a:lnTo>
                    <a:cubicBezTo>
                      <a:pt x="5459222" y="5901690"/>
                      <a:pt x="6290818" y="5072253"/>
                      <a:pt x="7313422" y="5072253"/>
                    </a:cubicBezTo>
                    <a:close/>
                  </a:path>
                </a:pathLst>
              </a:custGeom>
              <a:solidFill>
                <a:srgbClr val="545454"/>
              </a:solidFill>
            </p:spPr>
          </p:sp>
        </p:grpSp>
        <p:grpSp>
          <p:nvGrpSpPr>
            <p:cNvPr name="Group 5" id="5"/>
            <p:cNvGrpSpPr/>
            <p:nvPr/>
          </p:nvGrpSpPr>
          <p:grpSpPr>
            <a:xfrm rot="0">
              <a:off x="0" y="641146"/>
              <a:ext cx="10686714" cy="4372194"/>
              <a:chOff x="0" y="0"/>
              <a:chExt cx="21589920" cy="8832960"/>
            </a:xfrm>
          </p:grpSpPr>
          <p:sp>
            <p:nvSpPr>
              <p:cNvPr name="Freeform 6" id="6"/>
              <p:cNvSpPr/>
              <p:nvPr/>
            </p:nvSpPr>
            <p:spPr>
              <a:xfrm flipH="false" flipV="false" rot="0">
                <a:off x="0" y="0"/>
                <a:ext cx="21589873" cy="8832977"/>
              </a:xfrm>
              <a:custGeom>
                <a:avLst/>
                <a:gdLst/>
                <a:ahLst/>
                <a:cxnLst/>
                <a:rect r="r" b="b" t="t" l="l"/>
                <a:pathLst>
                  <a:path h="8832977" w="21589873">
                    <a:moveTo>
                      <a:pt x="10041001" y="8832977"/>
                    </a:moveTo>
                    <a:cubicBezTo>
                      <a:pt x="9967341" y="8832977"/>
                      <a:pt x="9891776" y="8824976"/>
                      <a:pt x="9818116" y="8811133"/>
                    </a:cubicBezTo>
                    <a:lnTo>
                      <a:pt x="9826117" y="8771382"/>
                    </a:lnTo>
                    <a:cubicBezTo>
                      <a:pt x="9961372" y="8797290"/>
                      <a:pt x="10098659" y="8799195"/>
                      <a:pt x="10229977" y="8775319"/>
                    </a:cubicBezTo>
                    <a:lnTo>
                      <a:pt x="10237978" y="8815070"/>
                    </a:lnTo>
                    <a:cubicBezTo>
                      <a:pt x="10172319" y="8827008"/>
                      <a:pt x="10106660" y="8832977"/>
                      <a:pt x="10041001" y="8832977"/>
                    </a:cubicBezTo>
                    <a:close/>
                    <a:moveTo>
                      <a:pt x="10436860" y="8759444"/>
                    </a:moveTo>
                    <a:lnTo>
                      <a:pt x="10420985" y="8721598"/>
                    </a:lnTo>
                    <a:cubicBezTo>
                      <a:pt x="10546334" y="8673846"/>
                      <a:pt x="10659745" y="8600313"/>
                      <a:pt x="10759186" y="8504809"/>
                    </a:cubicBezTo>
                    <a:lnTo>
                      <a:pt x="10786999" y="8534654"/>
                    </a:lnTo>
                    <a:cubicBezTo>
                      <a:pt x="10687558" y="8634095"/>
                      <a:pt x="10568178" y="8709660"/>
                      <a:pt x="10436860" y="8759444"/>
                    </a:cubicBezTo>
                    <a:close/>
                    <a:moveTo>
                      <a:pt x="9615170" y="8755507"/>
                    </a:moveTo>
                    <a:cubicBezTo>
                      <a:pt x="9485884" y="8707755"/>
                      <a:pt x="9362567" y="8638159"/>
                      <a:pt x="9253093" y="8548624"/>
                    </a:cubicBezTo>
                    <a:lnTo>
                      <a:pt x="9279001" y="8516747"/>
                    </a:lnTo>
                    <a:cubicBezTo>
                      <a:pt x="9386443" y="8602218"/>
                      <a:pt x="9505823" y="8669909"/>
                      <a:pt x="9631172" y="8717661"/>
                    </a:cubicBezTo>
                    <a:lnTo>
                      <a:pt x="9615297" y="8755507"/>
                    </a:lnTo>
                    <a:close/>
                    <a:moveTo>
                      <a:pt x="9100058" y="8407400"/>
                    </a:moveTo>
                    <a:cubicBezTo>
                      <a:pt x="9006586" y="8305927"/>
                      <a:pt x="8926957" y="8192643"/>
                      <a:pt x="8861298" y="8065262"/>
                    </a:cubicBezTo>
                    <a:lnTo>
                      <a:pt x="8897112" y="8047355"/>
                    </a:lnTo>
                    <a:cubicBezTo>
                      <a:pt x="8960739" y="8170672"/>
                      <a:pt x="9038336" y="8282051"/>
                      <a:pt x="9127871" y="8379460"/>
                    </a:cubicBezTo>
                    <a:lnTo>
                      <a:pt x="9100058" y="8407273"/>
                    </a:lnTo>
                    <a:close/>
                    <a:moveTo>
                      <a:pt x="10928350" y="8377428"/>
                    </a:moveTo>
                    <a:lnTo>
                      <a:pt x="10894568" y="8353552"/>
                    </a:lnTo>
                    <a:cubicBezTo>
                      <a:pt x="10970133" y="8248142"/>
                      <a:pt x="11031855" y="8128762"/>
                      <a:pt x="11079607" y="7993507"/>
                    </a:cubicBezTo>
                    <a:lnTo>
                      <a:pt x="11119358" y="8007477"/>
                    </a:lnTo>
                    <a:cubicBezTo>
                      <a:pt x="11069574" y="8144764"/>
                      <a:pt x="11005947" y="8269986"/>
                      <a:pt x="10928350" y="8377428"/>
                    </a:cubicBezTo>
                    <a:close/>
                    <a:moveTo>
                      <a:pt x="8777605" y="7872349"/>
                    </a:moveTo>
                    <a:cubicBezTo>
                      <a:pt x="8731886" y="7745095"/>
                      <a:pt x="8700008" y="7607808"/>
                      <a:pt x="8684133" y="7466584"/>
                    </a:cubicBezTo>
                    <a:lnTo>
                      <a:pt x="8725916" y="7462647"/>
                    </a:lnTo>
                    <a:cubicBezTo>
                      <a:pt x="8741791" y="7601839"/>
                      <a:pt x="8773668" y="7735189"/>
                      <a:pt x="8817483" y="7858506"/>
                    </a:cubicBezTo>
                    <a:lnTo>
                      <a:pt x="8777732" y="7872476"/>
                    </a:lnTo>
                    <a:close/>
                    <a:moveTo>
                      <a:pt x="3881501" y="7852410"/>
                    </a:moveTo>
                    <a:cubicBezTo>
                      <a:pt x="3833749" y="7852410"/>
                      <a:pt x="3785997" y="7852410"/>
                      <a:pt x="3736213" y="7850378"/>
                    </a:cubicBezTo>
                    <a:lnTo>
                      <a:pt x="3714369" y="7850378"/>
                    </a:lnTo>
                    <a:lnTo>
                      <a:pt x="3714369" y="7808595"/>
                    </a:lnTo>
                    <a:lnTo>
                      <a:pt x="3736213" y="7808595"/>
                    </a:lnTo>
                    <a:cubicBezTo>
                      <a:pt x="3873500" y="7810627"/>
                      <a:pt x="4002786" y="7810627"/>
                      <a:pt x="4126103" y="7806563"/>
                    </a:cubicBezTo>
                    <a:lnTo>
                      <a:pt x="4128135" y="7848346"/>
                    </a:lnTo>
                    <a:cubicBezTo>
                      <a:pt x="4048506" y="7850378"/>
                      <a:pt x="3964940" y="7852283"/>
                      <a:pt x="3881501" y="7852283"/>
                    </a:cubicBezTo>
                    <a:close/>
                    <a:moveTo>
                      <a:pt x="3507486" y="7846314"/>
                    </a:moveTo>
                    <a:lnTo>
                      <a:pt x="3095625" y="7840345"/>
                    </a:lnTo>
                    <a:lnTo>
                      <a:pt x="3095625" y="7798562"/>
                    </a:lnTo>
                    <a:lnTo>
                      <a:pt x="3507486" y="7804531"/>
                    </a:lnTo>
                    <a:lnTo>
                      <a:pt x="3507486" y="7846314"/>
                    </a:lnTo>
                    <a:close/>
                    <a:moveTo>
                      <a:pt x="4335145" y="7838313"/>
                    </a:moveTo>
                    <a:lnTo>
                      <a:pt x="4333113" y="7796530"/>
                    </a:lnTo>
                    <a:cubicBezTo>
                      <a:pt x="4480306" y="7786624"/>
                      <a:pt x="4617593" y="7772653"/>
                      <a:pt x="4740910" y="7750810"/>
                    </a:cubicBezTo>
                    <a:lnTo>
                      <a:pt x="4746879" y="7792593"/>
                    </a:lnTo>
                    <a:cubicBezTo>
                      <a:pt x="4621530" y="7812532"/>
                      <a:pt x="4482338" y="7828407"/>
                      <a:pt x="4335018" y="7838313"/>
                    </a:cubicBezTo>
                    <a:close/>
                    <a:moveTo>
                      <a:pt x="2888615" y="7836281"/>
                    </a:moveTo>
                    <a:lnTo>
                      <a:pt x="2476754" y="7830312"/>
                    </a:lnTo>
                    <a:lnTo>
                      <a:pt x="2476754" y="7788528"/>
                    </a:lnTo>
                    <a:lnTo>
                      <a:pt x="2888615" y="7794498"/>
                    </a:lnTo>
                    <a:lnTo>
                      <a:pt x="2888615" y="7836281"/>
                    </a:lnTo>
                    <a:close/>
                    <a:moveTo>
                      <a:pt x="2269871" y="7826375"/>
                    </a:moveTo>
                    <a:lnTo>
                      <a:pt x="1858010" y="7820406"/>
                    </a:lnTo>
                    <a:lnTo>
                      <a:pt x="1858010" y="7778623"/>
                    </a:lnTo>
                    <a:lnTo>
                      <a:pt x="2269871" y="7784592"/>
                    </a:lnTo>
                    <a:lnTo>
                      <a:pt x="2269871" y="7826375"/>
                    </a:lnTo>
                    <a:close/>
                    <a:moveTo>
                      <a:pt x="1649095" y="7816469"/>
                    </a:moveTo>
                    <a:lnTo>
                      <a:pt x="1237234" y="7810500"/>
                    </a:lnTo>
                    <a:lnTo>
                      <a:pt x="1237234" y="7768717"/>
                    </a:lnTo>
                    <a:lnTo>
                      <a:pt x="1649095" y="7774686"/>
                    </a:lnTo>
                    <a:lnTo>
                      <a:pt x="1649095" y="7816469"/>
                    </a:lnTo>
                    <a:close/>
                    <a:moveTo>
                      <a:pt x="1030351" y="7808468"/>
                    </a:moveTo>
                    <a:lnTo>
                      <a:pt x="618490" y="7802499"/>
                    </a:lnTo>
                    <a:lnTo>
                      <a:pt x="618490" y="7760970"/>
                    </a:lnTo>
                    <a:lnTo>
                      <a:pt x="1030351" y="7766938"/>
                    </a:lnTo>
                    <a:lnTo>
                      <a:pt x="1030351" y="7808722"/>
                    </a:lnTo>
                    <a:close/>
                    <a:moveTo>
                      <a:pt x="11172698" y="7806689"/>
                    </a:moveTo>
                    <a:lnTo>
                      <a:pt x="11132947" y="7798688"/>
                    </a:lnTo>
                    <a:cubicBezTo>
                      <a:pt x="11160760" y="7673339"/>
                      <a:pt x="11176762" y="7536180"/>
                      <a:pt x="11180699" y="7392924"/>
                    </a:cubicBezTo>
                    <a:lnTo>
                      <a:pt x="11222482" y="7394956"/>
                    </a:lnTo>
                    <a:cubicBezTo>
                      <a:pt x="11218545" y="7538212"/>
                      <a:pt x="11202543" y="7677403"/>
                      <a:pt x="11172698" y="7806689"/>
                    </a:cubicBezTo>
                    <a:close/>
                    <a:moveTo>
                      <a:pt x="411607" y="7798688"/>
                    </a:moveTo>
                    <a:lnTo>
                      <a:pt x="0" y="7790688"/>
                    </a:lnTo>
                    <a:lnTo>
                      <a:pt x="0" y="7748905"/>
                    </a:lnTo>
                    <a:lnTo>
                      <a:pt x="411861" y="7754874"/>
                    </a:lnTo>
                    <a:lnTo>
                      <a:pt x="411861" y="7798689"/>
                    </a:lnTo>
                    <a:close/>
                    <a:moveTo>
                      <a:pt x="4949825" y="7752969"/>
                    </a:moveTo>
                    <a:lnTo>
                      <a:pt x="4939919" y="7713218"/>
                    </a:lnTo>
                    <a:cubicBezTo>
                      <a:pt x="5085207" y="7679436"/>
                      <a:pt x="5212461" y="7635621"/>
                      <a:pt x="5325872" y="7581900"/>
                    </a:cubicBezTo>
                    <a:lnTo>
                      <a:pt x="5343779" y="7619746"/>
                    </a:lnTo>
                    <a:cubicBezTo>
                      <a:pt x="5228336" y="7673467"/>
                      <a:pt x="5099050" y="7717155"/>
                      <a:pt x="4949825" y="7752969"/>
                    </a:cubicBezTo>
                    <a:close/>
                    <a:moveTo>
                      <a:pt x="5524754" y="7514336"/>
                    </a:moveTo>
                    <a:lnTo>
                      <a:pt x="5500878" y="7480554"/>
                    </a:lnTo>
                    <a:cubicBezTo>
                      <a:pt x="5556631" y="7442708"/>
                      <a:pt x="5610352" y="7399020"/>
                      <a:pt x="5660009" y="7351268"/>
                    </a:cubicBezTo>
                    <a:cubicBezTo>
                      <a:pt x="5707761" y="7305548"/>
                      <a:pt x="5753481" y="7253859"/>
                      <a:pt x="5791327" y="7200138"/>
                    </a:cubicBezTo>
                    <a:lnTo>
                      <a:pt x="5825109" y="7224014"/>
                    </a:lnTo>
                    <a:cubicBezTo>
                      <a:pt x="5785358" y="7279767"/>
                      <a:pt x="5739511" y="7333361"/>
                      <a:pt x="5687822" y="7381113"/>
                    </a:cubicBezTo>
                    <a:cubicBezTo>
                      <a:pt x="5638038" y="7428865"/>
                      <a:pt x="5584317" y="7474585"/>
                      <a:pt x="5524627" y="7514336"/>
                    </a:cubicBezTo>
                    <a:close/>
                    <a:moveTo>
                      <a:pt x="8670036" y="7259701"/>
                    </a:moveTo>
                    <a:lnTo>
                      <a:pt x="8652129" y="6847967"/>
                    </a:lnTo>
                    <a:lnTo>
                      <a:pt x="8693912" y="6845935"/>
                    </a:lnTo>
                    <a:lnTo>
                      <a:pt x="8711819" y="7257669"/>
                    </a:lnTo>
                    <a:lnTo>
                      <a:pt x="8670036" y="7259701"/>
                    </a:lnTo>
                    <a:close/>
                    <a:moveTo>
                      <a:pt x="11182731" y="7186168"/>
                    </a:moveTo>
                    <a:lnTo>
                      <a:pt x="11178794" y="6774434"/>
                    </a:lnTo>
                    <a:lnTo>
                      <a:pt x="11220577" y="6774434"/>
                    </a:lnTo>
                    <a:lnTo>
                      <a:pt x="11224514" y="7186168"/>
                    </a:lnTo>
                    <a:lnTo>
                      <a:pt x="11182731" y="7186168"/>
                    </a:lnTo>
                    <a:close/>
                    <a:moveTo>
                      <a:pt x="5932678" y="7042912"/>
                    </a:moveTo>
                    <a:lnTo>
                      <a:pt x="5894832" y="7025005"/>
                    </a:lnTo>
                    <a:cubicBezTo>
                      <a:pt x="5950585" y="6909689"/>
                      <a:pt x="5990336" y="6784340"/>
                      <a:pt x="6016244" y="6637147"/>
                    </a:cubicBezTo>
                    <a:lnTo>
                      <a:pt x="6055995" y="6645148"/>
                    </a:lnTo>
                    <a:cubicBezTo>
                      <a:pt x="6030087" y="6796278"/>
                      <a:pt x="5990336" y="6925564"/>
                      <a:pt x="5932678" y="7042912"/>
                    </a:cubicBezTo>
                    <a:close/>
                    <a:moveTo>
                      <a:pt x="15175866" y="6927596"/>
                    </a:moveTo>
                    <a:cubicBezTo>
                      <a:pt x="15143989" y="6927596"/>
                      <a:pt x="15112239" y="6927596"/>
                      <a:pt x="15078329" y="6925564"/>
                    </a:cubicBezTo>
                    <a:cubicBezTo>
                      <a:pt x="15052421" y="6923532"/>
                      <a:pt x="15026641" y="6921627"/>
                      <a:pt x="15002765" y="6919595"/>
                    </a:cubicBezTo>
                    <a:lnTo>
                      <a:pt x="15006701" y="6877812"/>
                    </a:lnTo>
                    <a:cubicBezTo>
                      <a:pt x="15030577" y="6879844"/>
                      <a:pt x="15056486" y="6881749"/>
                      <a:pt x="15080362" y="6883781"/>
                    </a:cubicBezTo>
                    <a:cubicBezTo>
                      <a:pt x="15199742" y="6889750"/>
                      <a:pt x="15309216" y="6883781"/>
                      <a:pt x="15412593" y="6867906"/>
                    </a:cubicBezTo>
                    <a:lnTo>
                      <a:pt x="15420594" y="6907657"/>
                    </a:lnTo>
                    <a:cubicBezTo>
                      <a:pt x="15342997" y="6921627"/>
                      <a:pt x="15261464" y="6927596"/>
                      <a:pt x="15175866" y="6927596"/>
                    </a:cubicBezTo>
                    <a:close/>
                    <a:moveTo>
                      <a:pt x="14797914" y="6891782"/>
                    </a:moveTo>
                    <a:cubicBezTo>
                      <a:pt x="14650720" y="6863969"/>
                      <a:pt x="14517370" y="6818249"/>
                      <a:pt x="14403960" y="6758559"/>
                    </a:cubicBezTo>
                    <a:lnTo>
                      <a:pt x="14423898" y="6722745"/>
                    </a:lnTo>
                    <a:cubicBezTo>
                      <a:pt x="14535277" y="6780403"/>
                      <a:pt x="14664691" y="6824218"/>
                      <a:pt x="14807819" y="6852031"/>
                    </a:cubicBezTo>
                    <a:lnTo>
                      <a:pt x="14797914" y="6891782"/>
                    </a:lnTo>
                    <a:close/>
                    <a:moveTo>
                      <a:pt x="15623541" y="6853936"/>
                    </a:moveTo>
                    <a:lnTo>
                      <a:pt x="15609570" y="6816090"/>
                    </a:lnTo>
                    <a:cubicBezTo>
                      <a:pt x="15738856" y="6768338"/>
                      <a:pt x="15852267" y="6696710"/>
                      <a:pt x="15947771" y="6603238"/>
                    </a:cubicBezTo>
                    <a:lnTo>
                      <a:pt x="15977617" y="6633083"/>
                    </a:lnTo>
                    <a:cubicBezTo>
                      <a:pt x="15876143" y="6730492"/>
                      <a:pt x="15756764" y="6804152"/>
                      <a:pt x="15623541" y="6853809"/>
                    </a:cubicBezTo>
                    <a:close/>
                    <a:moveTo>
                      <a:pt x="14226921" y="6642989"/>
                    </a:moveTo>
                    <a:cubicBezTo>
                      <a:pt x="14119479" y="6557518"/>
                      <a:pt x="14029944" y="6450076"/>
                      <a:pt x="13958317" y="6322822"/>
                    </a:cubicBezTo>
                    <a:lnTo>
                      <a:pt x="13994130" y="6302883"/>
                    </a:lnTo>
                    <a:cubicBezTo>
                      <a:pt x="14061821" y="6424168"/>
                      <a:pt x="14149324" y="6527673"/>
                      <a:pt x="14252702" y="6611112"/>
                    </a:cubicBezTo>
                    <a:lnTo>
                      <a:pt x="14226794" y="6642989"/>
                    </a:lnTo>
                    <a:close/>
                    <a:moveTo>
                      <a:pt x="8642350" y="6640957"/>
                    </a:moveTo>
                    <a:lnTo>
                      <a:pt x="8624443" y="6229223"/>
                    </a:lnTo>
                    <a:lnTo>
                      <a:pt x="8666226" y="6227191"/>
                    </a:lnTo>
                    <a:lnTo>
                      <a:pt x="8684133" y="6638925"/>
                    </a:lnTo>
                    <a:lnTo>
                      <a:pt x="8642350" y="6640957"/>
                    </a:lnTo>
                    <a:close/>
                    <a:moveTo>
                      <a:pt x="11174984" y="6567424"/>
                    </a:moveTo>
                    <a:lnTo>
                      <a:pt x="11171047" y="6155690"/>
                    </a:lnTo>
                    <a:lnTo>
                      <a:pt x="11212830" y="6155690"/>
                    </a:lnTo>
                    <a:lnTo>
                      <a:pt x="11216767" y="6567424"/>
                    </a:lnTo>
                    <a:lnTo>
                      <a:pt x="11174984" y="6567424"/>
                    </a:lnTo>
                    <a:close/>
                    <a:moveTo>
                      <a:pt x="16110840" y="6470015"/>
                    </a:moveTo>
                    <a:lnTo>
                      <a:pt x="16077057" y="6446139"/>
                    </a:lnTo>
                    <a:cubicBezTo>
                      <a:pt x="16148686" y="6342761"/>
                      <a:pt x="16208375" y="6219444"/>
                      <a:pt x="16254095" y="6082157"/>
                    </a:cubicBezTo>
                    <a:lnTo>
                      <a:pt x="16293846" y="6094095"/>
                    </a:lnTo>
                    <a:cubicBezTo>
                      <a:pt x="16246094" y="6237351"/>
                      <a:pt x="16186404" y="6364605"/>
                      <a:pt x="16110840" y="6470015"/>
                    </a:cubicBezTo>
                    <a:close/>
                    <a:moveTo>
                      <a:pt x="6083808" y="6440170"/>
                    </a:moveTo>
                    <a:lnTo>
                      <a:pt x="6042025" y="6436233"/>
                    </a:lnTo>
                    <a:cubicBezTo>
                      <a:pt x="6050026" y="6346698"/>
                      <a:pt x="6053963" y="6251321"/>
                      <a:pt x="6053963" y="6143879"/>
                    </a:cubicBezTo>
                    <a:cubicBezTo>
                      <a:pt x="6053963" y="6104128"/>
                      <a:pt x="6053963" y="6064377"/>
                      <a:pt x="6051931" y="6024499"/>
                    </a:cubicBezTo>
                    <a:lnTo>
                      <a:pt x="6093714" y="6024499"/>
                    </a:lnTo>
                    <a:cubicBezTo>
                      <a:pt x="6093714" y="6064250"/>
                      <a:pt x="6095746" y="6104001"/>
                      <a:pt x="6095746" y="6143879"/>
                    </a:cubicBezTo>
                    <a:cubicBezTo>
                      <a:pt x="6093714" y="6253226"/>
                      <a:pt x="6091809" y="6348730"/>
                      <a:pt x="6083808" y="6440170"/>
                    </a:cubicBezTo>
                    <a:close/>
                    <a:moveTo>
                      <a:pt x="13870685" y="6133846"/>
                    </a:moveTo>
                    <a:cubicBezTo>
                      <a:pt x="13824965" y="6014466"/>
                      <a:pt x="13791057" y="5883275"/>
                      <a:pt x="13767181" y="5730113"/>
                    </a:cubicBezTo>
                    <a:lnTo>
                      <a:pt x="13808963" y="5724144"/>
                    </a:lnTo>
                    <a:cubicBezTo>
                      <a:pt x="13832839" y="5873369"/>
                      <a:pt x="13866622" y="6002655"/>
                      <a:pt x="13910436" y="6120003"/>
                    </a:cubicBezTo>
                    <a:lnTo>
                      <a:pt x="13870685" y="6133973"/>
                    </a:lnTo>
                    <a:close/>
                    <a:moveTo>
                      <a:pt x="8616442" y="6022594"/>
                    </a:moveTo>
                    <a:lnTo>
                      <a:pt x="8598535" y="5610860"/>
                    </a:lnTo>
                    <a:lnTo>
                      <a:pt x="8640318" y="5608828"/>
                    </a:lnTo>
                    <a:lnTo>
                      <a:pt x="8658225" y="6020562"/>
                    </a:lnTo>
                    <a:lnTo>
                      <a:pt x="8616442" y="6022594"/>
                    </a:lnTo>
                    <a:close/>
                    <a:moveTo>
                      <a:pt x="11169015" y="5949061"/>
                    </a:moveTo>
                    <a:lnTo>
                      <a:pt x="11164951" y="5537200"/>
                    </a:lnTo>
                    <a:lnTo>
                      <a:pt x="11206734" y="5537200"/>
                    </a:lnTo>
                    <a:lnTo>
                      <a:pt x="11210671" y="5948934"/>
                    </a:lnTo>
                    <a:lnTo>
                      <a:pt x="11168888" y="5948934"/>
                    </a:lnTo>
                    <a:close/>
                    <a:moveTo>
                      <a:pt x="16347567" y="5895213"/>
                    </a:moveTo>
                    <a:lnTo>
                      <a:pt x="16307815" y="5887212"/>
                    </a:lnTo>
                    <a:cubicBezTo>
                      <a:pt x="16333724" y="5761863"/>
                      <a:pt x="16351631" y="5626608"/>
                      <a:pt x="16361538" y="5481447"/>
                    </a:cubicBezTo>
                    <a:lnTo>
                      <a:pt x="16403320" y="5483479"/>
                    </a:lnTo>
                    <a:cubicBezTo>
                      <a:pt x="16393413" y="5628640"/>
                      <a:pt x="16375507" y="5767959"/>
                      <a:pt x="16347567" y="5895213"/>
                    </a:cubicBezTo>
                    <a:close/>
                    <a:moveTo>
                      <a:pt x="6045962" y="5819648"/>
                    </a:moveTo>
                    <a:lnTo>
                      <a:pt x="6043930" y="5763895"/>
                    </a:lnTo>
                    <a:cubicBezTo>
                      <a:pt x="6039993" y="5648579"/>
                      <a:pt x="6035928" y="5539105"/>
                      <a:pt x="6035928" y="5435727"/>
                    </a:cubicBezTo>
                    <a:lnTo>
                      <a:pt x="6035928" y="5405882"/>
                    </a:lnTo>
                    <a:lnTo>
                      <a:pt x="6077712" y="5405882"/>
                    </a:lnTo>
                    <a:lnTo>
                      <a:pt x="6077712" y="5435727"/>
                    </a:lnTo>
                    <a:cubicBezTo>
                      <a:pt x="6077712" y="5539105"/>
                      <a:pt x="6081649" y="5646547"/>
                      <a:pt x="6085713" y="5761863"/>
                    </a:cubicBezTo>
                    <a:lnTo>
                      <a:pt x="6087745" y="5817616"/>
                    </a:lnTo>
                    <a:lnTo>
                      <a:pt x="6045962" y="5819648"/>
                    </a:lnTo>
                    <a:close/>
                    <a:moveTo>
                      <a:pt x="13741400" y="5525262"/>
                    </a:moveTo>
                    <a:cubicBezTo>
                      <a:pt x="13729463" y="5403977"/>
                      <a:pt x="13723493" y="5268722"/>
                      <a:pt x="13719556" y="5111496"/>
                    </a:cubicBezTo>
                    <a:lnTo>
                      <a:pt x="13761338" y="5111496"/>
                    </a:lnTo>
                    <a:cubicBezTo>
                      <a:pt x="13763371" y="5268595"/>
                      <a:pt x="13771245" y="5401945"/>
                      <a:pt x="13783183" y="5521198"/>
                    </a:cubicBezTo>
                    <a:lnTo>
                      <a:pt x="13741400" y="5525135"/>
                    </a:lnTo>
                    <a:close/>
                    <a:moveTo>
                      <a:pt x="8582660" y="5407787"/>
                    </a:moveTo>
                    <a:cubicBezTo>
                      <a:pt x="8564753" y="5266563"/>
                      <a:pt x="8528939" y="5135245"/>
                      <a:pt x="8477250" y="5015992"/>
                    </a:cubicBezTo>
                    <a:lnTo>
                      <a:pt x="8515096" y="5000117"/>
                    </a:lnTo>
                    <a:cubicBezTo>
                      <a:pt x="8568817" y="5121402"/>
                      <a:pt x="8604631" y="5256657"/>
                      <a:pt x="8624570" y="5401945"/>
                    </a:cubicBezTo>
                    <a:lnTo>
                      <a:pt x="8582787" y="5407914"/>
                    </a:lnTo>
                    <a:close/>
                    <a:moveTo>
                      <a:pt x="11161141" y="5328412"/>
                    </a:moveTo>
                    <a:lnTo>
                      <a:pt x="11157204" y="4916678"/>
                    </a:lnTo>
                    <a:lnTo>
                      <a:pt x="11198987" y="4916678"/>
                    </a:lnTo>
                    <a:lnTo>
                      <a:pt x="11202924" y="5328412"/>
                    </a:lnTo>
                    <a:lnTo>
                      <a:pt x="11161141" y="5328412"/>
                    </a:lnTo>
                    <a:close/>
                    <a:moveTo>
                      <a:pt x="16407385" y="5274691"/>
                    </a:moveTo>
                    <a:lnTo>
                      <a:pt x="16365601" y="5274691"/>
                    </a:lnTo>
                    <a:cubicBezTo>
                      <a:pt x="16367633" y="5135499"/>
                      <a:pt x="16367633" y="4998212"/>
                      <a:pt x="16367633" y="4862957"/>
                    </a:cubicBezTo>
                    <a:lnTo>
                      <a:pt x="16409415" y="4862957"/>
                    </a:lnTo>
                    <a:cubicBezTo>
                      <a:pt x="16409415" y="4998212"/>
                      <a:pt x="16409415" y="5135499"/>
                      <a:pt x="16407385" y="5274691"/>
                    </a:cubicBezTo>
                    <a:close/>
                    <a:moveTo>
                      <a:pt x="6097905" y="5207127"/>
                    </a:moveTo>
                    <a:lnTo>
                      <a:pt x="6058153" y="5199126"/>
                    </a:lnTo>
                    <a:cubicBezTo>
                      <a:pt x="6087999" y="5061839"/>
                      <a:pt x="6145657" y="4934585"/>
                      <a:pt x="6231255" y="4819269"/>
                    </a:cubicBezTo>
                    <a:lnTo>
                      <a:pt x="6265037" y="4843145"/>
                    </a:lnTo>
                    <a:cubicBezTo>
                      <a:pt x="6181471" y="4952492"/>
                      <a:pt x="6125718" y="5073904"/>
                      <a:pt x="6097905" y="5207127"/>
                    </a:cubicBezTo>
                    <a:close/>
                    <a:moveTo>
                      <a:pt x="20157439" y="4992243"/>
                    </a:moveTo>
                    <a:cubicBezTo>
                      <a:pt x="20016215" y="4986274"/>
                      <a:pt x="19878929" y="4962398"/>
                      <a:pt x="19747610" y="4916678"/>
                    </a:cubicBezTo>
                    <a:lnTo>
                      <a:pt x="19761580" y="4876927"/>
                    </a:lnTo>
                    <a:cubicBezTo>
                      <a:pt x="19888961" y="4920742"/>
                      <a:pt x="20022184" y="4944491"/>
                      <a:pt x="20159472" y="4950460"/>
                    </a:cubicBezTo>
                    <a:lnTo>
                      <a:pt x="20157439" y="4992243"/>
                    </a:lnTo>
                    <a:close/>
                    <a:moveTo>
                      <a:pt x="20366354" y="4984242"/>
                    </a:moveTo>
                    <a:lnTo>
                      <a:pt x="20362418" y="4942459"/>
                    </a:lnTo>
                    <a:cubicBezTo>
                      <a:pt x="20499704" y="4928489"/>
                      <a:pt x="20631023" y="4892675"/>
                      <a:pt x="20754339" y="4840986"/>
                    </a:cubicBezTo>
                    <a:lnTo>
                      <a:pt x="20770214" y="4878832"/>
                    </a:lnTo>
                    <a:cubicBezTo>
                      <a:pt x="20644865" y="4934585"/>
                      <a:pt x="20507579" y="4968367"/>
                      <a:pt x="20366354" y="4984242"/>
                    </a:cubicBezTo>
                    <a:close/>
                    <a:moveTo>
                      <a:pt x="13761211" y="4904740"/>
                    </a:moveTo>
                    <a:lnTo>
                      <a:pt x="13719428" y="4904740"/>
                    </a:lnTo>
                    <a:cubicBezTo>
                      <a:pt x="13719428" y="4813300"/>
                      <a:pt x="13721460" y="4723765"/>
                      <a:pt x="13721460" y="4632198"/>
                    </a:cubicBezTo>
                    <a:lnTo>
                      <a:pt x="13723493" y="4490974"/>
                    </a:lnTo>
                    <a:lnTo>
                      <a:pt x="13765275" y="4490974"/>
                    </a:lnTo>
                    <a:lnTo>
                      <a:pt x="13763244" y="4632198"/>
                    </a:lnTo>
                    <a:cubicBezTo>
                      <a:pt x="13761211" y="4723638"/>
                      <a:pt x="13761211" y="4815205"/>
                      <a:pt x="13761211" y="4904740"/>
                    </a:cubicBezTo>
                    <a:close/>
                    <a:moveTo>
                      <a:pt x="8379586" y="4839081"/>
                    </a:moveTo>
                    <a:cubicBezTo>
                      <a:pt x="8304021" y="4725670"/>
                      <a:pt x="8208517" y="4630293"/>
                      <a:pt x="8097138" y="4552696"/>
                    </a:cubicBezTo>
                    <a:lnTo>
                      <a:pt x="8121014" y="4518914"/>
                    </a:lnTo>
                    <a:cubicBezTo>
                      <a:pt x="8236457" y="4598416"/>
                      <a:pt x="8335898" y="4699889"/>
                      <a:pt x="8415400" y="4815332"/>
                    </a:cubicBezTo>
                    <a:lnTo>
                      <a:pt x="8379586" y="4839208"/>
                    </a:lnTo>
                    <a:close/>
                    <a:moveTo>
                      <a:pt x="19556475" y="4833239"/>
                    </a:moveTo>
                    <a:cubicBezTo>
                      <a:pt x="19429095" y="4765675"/>
                      <a:pt x="19317715" y="4680077"/>
                      <a:pt x="19226275" y="4576699"/>
                    </a:cubicBezTo>
                    <a:lnTo>
                      <a:pt x="19256121" y="4548886"/>
                    </a:lnTo>
                    <a:cubicBezTo>
                      <a:pt x="19345655" y="4648327"/>
                      <a:pt x="19451065" y="4731893"/>
                      <a:pt x="19574382" y="4795520"/>
                    </a:cubicBezTo>
                    <a:lnTo>
                      <a:pt x="19556475" y="4833366"/>
                    </a:lnTo>
                    <a:close/>
                    <a:moveTo>
                      <a:pt x="20955126" y="4781677"/>
                    </a:moveTo>
                    <a:lnTo>
                      <a:pt x="20933282" y="4745863"/>
                    </a:lnTo>
                    <a:cubicBezTo>
                      <a:pt x="21048725" y="4672330"/>
                      <a:pt x="21150199" y="4582795"/>
                      <a:pt x="21233637" y="4477385"/>
                    </a:cubicBezTo>
                    <a:lnTo>
                      <a:pt x="21265514" y="4503293"/>
                    </a:lnTo>
                    <a:cubicBezTo>
                      <a:pt x="21179917" y="4612640"/>
                      <a:pt x="21074506" y="4706112"/>
                      <a:pt x="20955126" y="4781804"/>
                    </a:cubicBezTo>
                    <a:close/>
                    <a:moveTo>
                      <a:pt x="11152885" y="4710176"/>
                    </a:moveTo>
                    <a:lnTo>
                      <a:pt x="11148948" y="4298442"/>
                    </a:lnTo>
                    <a:lnTo>
                      <a:pt x="11190731" y="4298442"/>
                    </a:lnTo>
                    <a:lnTo>
                      <a:pt x="11194668" y="4710176"/>
                    </a:lnTo>
                    <a:lnTo>
                      <a:pt x="11152885" y="4710176"/>
                    </a:lnTo>
                    <a:close/>
                    <a:moveTo>
                      <a:pt x="6398005" y="4692269"/>
                    </a:moveTo>
                    <a:lnTo>
                      <a:pt x="6370192" y="4662424"/>
                    </a:lnTo>
                    <a:cubicBezTo>
                      <a:pt x="6469633" y="4570984"/>
                      <a:pt x="6587108" y="4493387"/>
                      <a:pt x="6718299" y="4433697"/>
                    </a:cubicBezTo>
                    <a:lnTo>
                      <a:pt x="6736206" y="4471543"/>
                    </a:lnTo>
                    <a:cubicBezTo>
                      <a:pt x="6606920" y="4527296"/>
                      <a:pt x="6493509" y="4602861"/>
                      <a:pt x="6398005" y="4692269"/>
                    </a:cubicBezTo>
                    <a:close/>
                    <a:moveTo>
                      <a:pt x="16367378" y="4656455"/>
                    </a:moveTo>
                    <a:cubicBezTo>
                      <a:pt x="16367378" y="4517263"/>
                      <a:pt x="16367378" y="4379976"/>
                      <a:pt x="16365345" y="4244721"/>
                    </a:cubicBezTo>
                    <a:lnTo>
                      <a:pt x="16407129" y="4244721"/>
                    </a:lnTo>
                    <a:cubicBezTo>
                      <a:pt x="16407129" y="4379976"/>
                      <a:pt x="16409161" y="4517263"/>
                      <a:pt x="16409161" y="4656455"/>
                    </a:cubicBezTo>
                    <a:lnTo>
                      <a:pt x="16367378" y="4656455"/>
                    </a:lnTo>
                    <a:close/>
                    <a:moveTo>
                      <a:pt x="7922133" y="4453255"/>
                    </a:moveTo>
                    <a:cubicBezTo>
                      <a:pt x="7802752" y="4397502"/>
                      <a:pt x="7671435" y="4361815"/>
                      <a:pt x="7532243" y="4345813"/>
                    </a:cubicBezTo>
                    <a:lnTo>
                      <a:pt x="7536180" y="4304030"/>
                    </a:lnTo>
                    <a:cubicBezTo>
                      <a:pt x="7679436" y="4319905"/>
                      <a:pt x="7814690" y="4357751"/>
                      <a:pt x="7938008" y="4415409"/>
                    </a:cubicBezTo>
                    <a:lnTo>
                      <a:pt x="7922133" y="4453255"/>
                    </a:lnTo>
                    <a:close/>
                    <a:moveTo>
                      <a:pt x="19101054" y="4407535"/>
                    </a:moveTo>
                    <a:cubicBezTo>
                      <a:pt x="19029426" y="4290187"/>
                      <a:pt x="18979642" y="4156964"/>
                      <a:pt x="18955765" y="4015740"/>
                    </a:cubicBezTo>
                    <a:lnTo>
                      <a:pt x="18995517" y="4007739"/>
                    </a:lnTo>
                    <a:cubicBezTo>
                      <a:pt x="19019393" y="4145026"/>
                      <a:pt x="19067145" y="4270248"/>
                      <a:pt x="19136740" y="4385691"/>
                    </a:cubicBezTo>
                    <a:lnTo>
                      <a:pt x="19100927" y="4407535"/>
                    </a:lnTo>
                    <a:close/>
                    <a:moveTo>
                      <a:pt x="6927214" y="4399534"/>
                    </a:moveTo>
                    <a:lnTo>
                      <a:pt x="6915276" y="4359783"/>
                    </a:lnTo>
                    <a:cubicBezTo>
                      <a:pt x="7048626" y="4320032"/>
                      <a:pt x="7187819" y="4298061"/>
                      <a:pt x="7327137" y="4296156"/>
                    </a:cubicBezTo>
                    <a:lnTo>
                      <a:pt x="7327137" y="4337939"/>
                    </a:lnTo>
                    <a:cubicBezTo>
                      <a:pt x="7191883" y="4339971"/>
                      <a:pt x="7056627" y="4359783"/>
                      <a:pt x="6927214" y="4399661"/>
                    </a:cubicBezTo>
                    <a:close/>
                    <a:moveTo>
                      <a:pt x="21384768" y="4330065"/>
                    </a:moveTo>
                    <a:lnTo>
                      <a:pt x="21348954" y="4310126"/>
                    </a:lnTo>
                    <a:cubicBezTo>
                      <a:pt x="21414612" y="4196715"/>
                      <a:pt x="21464397" y="4069461"/>
                      <a:pt x="21496147" y="3932174"/>
                    </a:cubicBezTo>
                    <a:lnTo>
                      <a:pt x="21535898" y="3942080"/>
                    </a:lnTo>
                    <a:cubicBezTo>
                      <a:pt x="21502115" y="4081272"/>
                      <a:pt x="21452332" y="4212590"/>
                      <a:pt x="21384640" y="4329938"/>
                    </a:cubicBezTo>
                    <a:close/>
                    <a:moveTo>
                      <a:pt x="13723111" y="4286123"/>
                    </a:moveTo>
                    <a:cubicBezTo>
                      <a:pt x="13723111" y="4123055"/>
                      <a:pt x="13719175" y="3993769"/>
                      <a:pt x="13711174" y="3874389"/>
                    </a:cubicBezTo>
                    <a:lnTo>
                      <a:pt x="13752956" y="3872357"/>
                    </a:lnTo>
                    <a:cubicBezTo>
                      <a:pt x="13760957" y="3991737"/>
                      <a:pt x="13764895" y="4122928"/>
                      <a:pt x="13766927" y="4286123"/>
                    </a:cubicBezTo>
                    <a:lnTo>
                      <a:pt x="13723111" y="4286123"/>
                    </a:lnTo>
                    <a:close/>
                    <a:moveTo>
                      <a:pt x="11147044" y="4091305"/>
                    </a:moveTo>
                    <a:lnTo>
                      <a:pt x="11143107" y="3773043"/>
                    </a:lnTo>
                    <a:cubicBezTo>
                      <a:pt x="11143107" y="3741166"/>
                      <a:pt x="11145138" y="3709416"/>
                      <a:pt x="11147044" y="3677539"/>
                    </a:cubicBezTo>
                    <a:lnTo>
                      <a:pt x="11188826" y="3679571"/>
                    </a:lnTo>
                    <a:cubicBezTo>
                      <a:pt x="11186795" y="3709416"/>
                      <a:pt x="11184889" y="3741166"/>
                      <a:pt x="11184889" y="3773043"/>
                    </a:cubicBezTo>
                    <a:lnTo>
                      <a:pt x="11188826" y="4091305"/>
                    </a:lnTo>
                    <a:lnTo>
                      <a:pt x="11147044" y="4091305"/>
                    </a:lnTo>
                    <a:close/>
                    <a:moveTo>
                      <a:pt x="16365474" y="4037584"/>
                    </a:moveTo>
                    <a:lnTo>
                      <a:pt x="16365474" y="4025646"/>
                    </a:lnTo>
                    <a:cubicBezTo>
                      <a:pt x="16365474" y="3890391"/>
                      <a:pt x="16363442" y="3759073"/>
                      <a:pt x="16363442" y="3625850"/>
                    </a:cubicBezTo>
                    <a:lnTo>
                      <a:pt x="16405225" y="3625850"/>
                    </a:lnTo>
                    <a:cubicBezTo>
                      <a:pt x="16405225" y="3759073"/>
                      <a:pt x="16407256" y="3892423"/>
                      <a:pt x="16407256" y="4025646"/>
                    </a:cubicBezTo>
                    <a:lnTo>
                      <a:pt x="16407256" y="4037584"/>
                    </a:lnTo>
                    <a:lnTo>
                      <a:pt x="16365474" y="4037584"/>
                    </a:lnTo>
                    <a:close/>
                    <a:moveTo>
                      <a:pt x="18933922" y="3808857"/>
                    </a:moveTo>
                    <a:lnTo>
                      <a:pt x="18908013" y="3397123"/>
                    </a:lnTo>
                    <a:lnTo>
                      <a:pt x="18949797" y="3395091"/>
                    </a:lnTo>
                    <a:lnTo>
                      <a:pt x="18975705" y="3806825"/>
                    </a:lnTo>
                    <a:lnTo>
                      <a:pt x="18933922" y="3808857"/>
                    </a:lnTo>
                    <a:close/>
                    <a:moveTo>
                      <a:pt x="21573998" y="3737229"/>
                    </a:moveTo>
                    <a:lnTo>
                      <a:pt x="21532214" y="3731260"/>
                    </a:lnTo>
                    <a:cubicBezTo>
                      <a:pt x="21542121" y="3649726"/>
                      <a:pt x="21548089" y="3562223"/>
                      <a:pt x="21548089" y="3474720"/>
                    </a:cubicBezTo>
                    <a:cubicBezTo>
                      <a:pt x="21548089" y="3456813"/>
                      <a:pt x="21548089" y="3438906"/>
                      <a:pt x="21548089" y="3418967"/>
                    </a:cubicBezTo>
                    <a:lnTo>
                      <a:pt x="21546058" y="3321558"/>
                    </a:lnTo>
                    <a:lnTo>
                      <a:pt x="21587840" y="3321558"/>
                    </a:lnTo>
                    <a:lnTo>
                      <a:pt x="21589873" y="3418967"/>
                    </a:lnTo>
                    <a:cubicBezTo>
                      <a:pt x="21589873" y="3436874"/>
                      <a:pt x="21589873" y="3456813"/>
                      <a:pt x="21589873" y="3474720"/>
                    </a:cubicBezTo>
                    <a:cubicBezTo>
                      <a:pt x="21589873" y="3564255"/>
                      <a:pt x="21585935" y="3651758"/>
                      <a:pt x="21573998" y="3737229"/>
                    </a:cubicBezTo>
                    <a:close/>
                    <a:moveTo>
                      <a:pt x="13691615" y="3671570"/>
                    </a:moveTo>
                    <a:cubicBezTo>
                      <a:pt x="13673710" y="3532378"/>
                      <a:pt x="13635864" y="3401060"/>
                      <a:pt x="13580238" y="3281680"/>
                    </a:cubicBezTo>
                    <a:lnTo>
                      <a:pt x="13618083" y="3263773"/>
                    </a:lnTo>
                    <a:cubicBezTo>
                      <a:pt x="13675740" y="3385058"/>
                      <a:pt x="13713588" y="3520313"/>
                      <a:pt x="13731494" y="3665601"/>
                    </a:cubicBezTo>
                    <a:lnTo>
                      <a:pt x="13691743" y="3671570"/>
                    </a:lnTo>
                    <a:close/>
                    <a:moveTo>
                      <a:pt x="11216767" y="3478657"/>
                    </a:moveTo>
                    <a:lnTo>
                      <a:pt x="11177016" y="3468751"/>
                    </a:lnTo>
                    <a:cubicBezTo>
                      <a:pt x="11208893" y="3329559"/>
                      <a:pt x="11264519" y="3200273"/>
                      <a:pt x="11342116" y="3084830"/>
                    </a:cubicBezTo>
                    <a:lnTo>
                      <a:pt x="11375899" y="3108706"/>
                    </a:lnTo>
                    <a:cubicBezTo>
                      <a:pt x="11302238" y="3220085"/>
                      <a:pt x="11248517" y="3345434"/>
                      <a:pt x="11216767" y="3478657"/>
                    </a:cubicBezTo>
                    <a:close/>
                    <a:moveTo>
                      <a:pt x="16403321" y="3418967"/>
                    </a:moveTo>
                    <a:lnTo>
                      <a:pt x="16361538" y="3418967"/>
                    </a:lnTo>
                    <a:lnTo>
                      <a:pt x="16361538" y="3339465"/>
                    </a:lnTo>
                    <a:cubicBezTo>
                      <a:pt x="16361538" y="3228086"/>
                      <a:pt x="16361538" y="3118739"/>
                      <a:pt x="16363570" y="3007360"/>
                    </a:cubicBezTo>
                    <a:lnTo>
                      <a:pt x="16405352" y="3007360"/>
                    </a:lnTo>
                    <a:cubicBezTo>
                      <a:pt x="16405352" y="3118739"/>
                      <a:pt x="16403321" y="3228086"/>
                      <a:pt x="16403321" y="3339465"/>
                    </a:cubicBezTo>
                    <a:lnTo>
                      <a:pt x="16403321" y="3418967"/>
                    </a:lnTo>
                    <a:close/>
                    <a:moveTo>
                      <a:pt x="18894172" y="3190240"/>
                    </a:moveTo>
                    <a:lnTo>
                      <a:pt x="18868264" y="2778506"/>
                    </a:lnTo>
                    <a:lnTo>
                      <a:pt x="18910047" y="2776474"/>
                    </a:lnTo>
                    <a:lnTo>
                      <a:pt x="18935954" y="3188208"/>
                    </a:lnTo>
                    <a:lnTo>
                      <a:pt x="18894172" y="3190240"/>
                    </a:lnTo>
                    <a:close/>
                    <a:moveTo>
                      <a:pt x="21542122" y="3116707"/>
                    </a:moveTo>
                    <a:lnTo>
                      <a:pt x="21532216" y="2704973"/>
                    </a:lnTo>
                    <a:lnTo>
                      <a:pt x="21573998" y="2704973"/>
                    </a:lnTo>
                    <a:lnTo>
                      <a:pt x="21583904" y="3116707"/>
                    </a:lnTo>
                    <a:lnTo>
                      <a:pt x="21542122" y="3116707"/>
                    </a:lnTo>
                    <a:close/>
                    <a:moveTo>
                      <a:pt x="13478765" y="3106801"/>
                    </a:moveTo>
                    <a:cubicBezTo>
                      <a:pt x="13401168" y="2995422"/>
                      <a:pt x="13305664" y="2899918"/>
                      <a:pt x="13192252" y="2822321"/>
                    </a:cubicBezTo>
                    <a:lnTo>
                      <a:pt x="13216128" y="2788539"/>
                    </a:lnTo>
                    <a:cubicBezTo>
                      <a:pt x="13333478" y="2870073"/>
                      <a:pt x="13433045" y="2967482"/>
                      <a:pt x="13512547" y="3082925"/>
                    </a:cubicBezTo>
                    <a:lnTo>
                      <a:pt x="13478765" y="3106801"/>
                    </a:lnTo>
                    <a:close/>
                    <a:moveTo>
                      <a:pt x="11505185" y="2953639"/>
                    </a:moveTo>
                    <a:lnTo>
                      <a:pt x="11475340" y="2923794"/>
                    </a:lnTo>
                    <a:cubicBezTo>
                      <a:pt x="11572876" y="2826385"/>
                      <a:pt x="11688192" y="2746756"/>
                      <a:pt x="11817478" y="2685161"/>
                    </a:cubicBezTo>
                    <a:lnTo>
                      <a:pt x="11835385" y="2723007"/>
                    </a:lnTo>
                    <a:cubicBezTo>
                      <a:pt x="11710036" y="2782697"/>
                      <a:pt x="11598657" y="2860294"/>
                      <a:pt x="11505185" y="2953766"/>
                    </a:cubicBezTo>
                    <a:close/>
                    <a:moveTo>
                      <a:pt x="16405354" y="2800604"/>
                    </a:moveTo>
                    <a:lnTo>
                      <a:pt x="16363570" y="2800604"/>
                    </a:lnTo>
                    <a:cubicBezTo>
                      <a:pt x="16365603" y="2663317"/>
                      <a:pt x="16367506" y="2526157"/>
                      <a:pt x="16371571" y="2386838"/>
                    </a:cubicBezTo>
                    <a:lnTo>
                      <a:pt x="16413355" y="2388870"/>
                    </a:lnTo>
                    <a:cubicBezTo>
                      <a:pt x="16411322" y="2526157"/>
                      <a:pt x="16407385" y="2663317"/>
                      <a:pt x="16405354" y="2800604"/>
                    </a:cubicBezTo>
                    <a:close/>
                    <a:moveTo>
                      <a:pt x="13017247" y="2721102"/>
                    </a:moveTo>
                    <a:cubicBezTo>
                      <a:pt x="12895835" y="2663444"/>
                      <a:pt x="12766549" y="2625598"/>
                      <a:pt x="12629262" y="2605786"/>
                    </a:cubicBezTo>
                    <a:lnTo>
                      <a:pt x="12635231" y="2564003"/>
                    </a:lnTo>
                    <a:cubicBezTo>
                      <a:pt x="12776455" y="2583942"/>
                      <a:pt x="12911710" y="2623693"/>
                      <a:pt x="13035155" y="2681351"/>
                    </a:cubicBezTo>
                    <a:lnTo>
                      <a:pt x="13017247" y="2721102"/>
                    </a:lnTo>
                    <a:close/>
                    <a:moveTo>
                      <a:pt x="12024488" y="2651506"/>
                    </a:moveTo>
                    <a:lnTo>
                      <a:pt x="12012550" y="2611755"/>
                    </a:lnTo>
                    <a:cubicBezTo>
                      <a:pt x="12145900" y="2572004"/>
                      <a:pt x="12285092" y="2552065"/>
                      <a:pt x="12426316" y="2552065"/>
                    </a:cubicBezTo>
                    <a:lnTo>
                      <a:pt x="12426316" y="2593848"/>
                    </a:lnTo>
                    <a:cubicBezTo>
                      <a:pt x="12289029" y="2593848"/>
                      <a:pt x="12153774" y="2611755"/>
                      <a:pt x="12024488" y="2651506"/>
                    </a:cubicBezTo>
                    <a:close/>
                    <a:moveTo>
                      <a:pt x="18854421" y="2573909"/>
                    </a:moveTo>
                    <a:lnTo>
                      <a:pt x="18828513" y="2162175"/>
                    </a:lnTo>
                    <a:lnTo>
                      <a:pt x="18870296" y="2160143"/>
                    </a:lnTo>
                    <a:lnTo>
                      <a:pt x="18896203" y="2571877"/>
                    </a:lnTo>
                    <a:lnTo>
                      <a:pt x="18854421" y="2573909"/>
                    </a:lnTo>
                    <a:close/>
                    <a:moveTo>
                      <a:pt x="21526247" y="2498344"/>
                    </a:moveTo>
                    <a:lnTo>
                      <a:pt x="21516341" y="2086610"/>
                    </a:lnTo>
                    <a:lnTo>
                      <a:pt x="21558124" y="2086610"/>
                    </a:lnTo>
                    <a:lnTo>
                      <a:pt x="21568029" y="2498344"/>
                    </a:lnTo>
                    <a:lnTo>
                      <a:pt x="21526247" y="2498344"/>
                    </a:lnTo>
                    <a:close/>
                    <a:moveTo>
                      <a:pt x="16419196" y="2182114"/>
                    </a:moveTo>
                    <a:lnTo>
                      <a:pt x="16377413" y="2180082"/>
                    </a:lnTo>
                    <a:cubicBezTo>
                      <a:pt x="16381350" y="2044827"/>
                      <a:pt x="16387319" y="1907540"/>
                      <a:pt x="16395320" y="1768348"/>
                    </a:cubicBezTo>
                    <a:lnTo>
                      <a:pt x="16437102" y="1770380"/>
                    </a:lnTo>
                    <a:cubicBezTo>
                      <a:pt x="16429101" y="1909572"/>
                      <a:pt x="16425165" y="2044827"/>
                      <a:pt x="16419196" y="2182114"/>
                    </a:cubicBezTo>
                    <a:close/>
                    <a:moveTo>
                      <a:pt x="18814543" y="1955419"/>
                    </a:moveTo>
                    <a:lnTo>
                      <a:pt x="18794603" y="1635252"/>
                    </a:lnTo>
                    <a:cubicBezTo>
                      <a:pt x="18792572" y="1605407"/>
                      <a:pt x="18788635" y="1573657"/>
                      <a:pt x="18784698" y="1545717"/>
                    </a:cubicBezTo>
                    <a:lnTo>
                      <a:pt x="18826480" y="1539748"/>
                    </a:lnTo>
                    <a:cubicBezTo>
                      <a:pt x="18830418" y="1569593"/>
                      <a:pt x="18834481" y="1601470"/>
                      <a:pt x="18836387" y="1633220"/>
                    </a:cubicBezTo>
                    <a:lnTo>
                      <a:pt x="18856325" y="1953387"/>
                    </a:lnTo>
                    <a:lnTo>
                      <a:pt x="18814543" y="1955419"/>
                    </a:lnTo>
                    <a:close/>
                    <a:moveTo>
                      <a:pt x="21512276" y="1879600"/>
                    </a:moveTo>
                    <a:lnTo>
                      <a:pt x="21502370" y="1467866"/>
                    </a:lnTo>
                    <a:lnTo>
                      <a:pt x="21544153" y="1467866"/>
                    </a:lnTo>
                    <a:lnTo>
                      <a:pt x="21554060" y="1879600"/>
                    </a:lnTo>
                    <a:lnTo>
                      <a:pt x="21512276" y="1879600"/>
                    </a:lnTo>
                    <a:close/>
                    <a:moveTo>
                      <a:pt x="16457042" y="1567307"/>
                    </a:moveTo>
                    <a:lnTo>
                      <a:pt x="16417291" y="1559306"/>
                    </a:lnTo>
                    <a:cubicBezTo>
                      <a:pt x="16445103" y="1422019"/>
                      <a:pt x="16508857" y="1296797"/>
                      <a:pt x="16602329" y="1185418"/>
                    </a:cubicBezTo>
                    <a:lnTo>
                      <a:pt x="16634206" y="1211326"/>
                    </a:lnTo>
                    <a:cubicBezTo>
                      <a:pt x="16542640" y="1316736"/>
                      <a:pt x="16482949" y="1438021"/>
                      <a:pt x="16457168" y="1567307"/>
                    </a:cubicBezTo>
                    <a:close/>
                    <a:moveTo>
                      <a:pt x="18729198" y="1352550"/>
                    </a:moveTo>
                    <a:cubicBezTo>
                      <a:pt x="18677510" y="1229233"/>
                      <a:pt x="18597880" y="1121791"/>
                      <a:pt x="18492470" y="1034288"/>
                    </a:cubicBezTo>
                    <a:lnTo>
                      <a:pt x="18518378" y="1002411"/>
                    </a:lnTo>
                    <a:cubicBezTo>
                      <a:pt x="18629757" y="1093851"/>
                      <a:pt x="18715355" y="1207262"/>
                      <a:pt x="18769076" y="1338580"/>
                    </a:cubicBezTo>
                    <a:lnTo>
                      <a:pt x="18729325" y="1352550"/>
                    </a:lnTo>
                    <a:close/>
                    <a:moveTo>
                      <a:pt x="21498688" y="1261110"/>
                    </a:moveTo>
                    <a:lnTo>
                      <a:pt x="21488400" y="849249"/>
                    </a:lnTo>
                    <a:lnTo>
                      <a:pt x="21530183" y="849249"/>
                    </a:lnTo>
                    <a:lnTo>
                      <a:pt x="21540088" y="1260983"/>
                    </a:lnTo>
                    <a:lnTo>
                      <a:pt x="21498306" y="1260983"/>
                    </a:lnTo>
                    <a:close/>
                    <a:moveTo>
                      <a:pt x="16779367" y="1072007"/>
                    </a:moveTo>
                    <a:lnTo>
                      <a:pt x="16753458" y="1040130"/>
                    </a:lnTo>
                    <a:cubicBezTo>
                      <a:pt x="16858869" y="958596"/>
                      <a:pt x="16982185" y="890905"/>
                      <a:pt x="17121505" y="841248"/>
                    </a:cubicBezTo>
                    <a:lnTo>
                      <a:pt x="17135475" y="879094"/>
                    </a:lnTo>
                    <a:cubicBezTo>
                      <a:pt x="17000220" y="926846"/>
                      <a:pt x="16880839" y="992505"/>
                      <a:pt x="16779367" y="1072007"/>
                    </a:cubicBezTo>
                    <a:close/>
                    <a:moveTo>
                      <a:pt x="18323179" y="922782"/>
                    </a:moveTo>
                    <a:cubicBezTo>
                      <a:pt x="18209768" y="863092"/>
                      <a:pt x="18080481" y="823341"/>
                      <a:pt x="17937226" y="799465"/>
                    </a:cubicBezTo>
                    <a:lnTo>
                      <a:pt x="17943195" y="757682"/>
                    </a:lnTo>
                    <a:cubicBezTo>
                      <a:pt x="18088482" y="781558"/>
                      <a:pt x="18223737" y="823341"/>
                      <a:pt x="18341085" y="884936"/>
                    </a:cubicBezTo>
                    <a:lnTo>
                      <a:pt x="18323179" y="922782"/>
                    </a:lnTo>
                    <a:close/>
                    <a:moveTo>
                      <a:pt x="17330420" y="821309"/>
                    </a:moveTo>
                    <a:lnTo>
                      <a:pt x="17320513" y="781558"/>
                    </a:lnTo>
                    <a:cubicBezTo>
                      <a:pt x="17455769" y="751713"/>
                      <a:pt x="17599025" y="737743"/>
                      <a:pt x="17736311" y="741807"/>
                    </a:cubicBezTo>
                    <a:lnTo>
                      <a:pt x="17734280" y="783590"/>
                    </a:lnTo>
                    <a:cubicBezTo>
                      <a:pt x="17600930" y="779653"/>
                      <a:pt x="17461737" y="791591"/>
                      <a:pt x="17330420" y="821436"/>
                    </a:cubicBezTo>
                    <a:close/>
                    <a:moveTo>
                      <a:pt x="21482430" y="642493"/>
                    </a:moveTo>
                    <a:lnTo>
                      <a:pt x="21472525" y="230759"/>
                    </a:lnTo>
                    <a:lnTo>
                      <a:pt x="21514307" y="230759"/>
                    </a:lnTo>
                    <a:lnTo>
                      <a:pt x="21524213" y="642493"/>
                    </a:lnTo>
                    <a:lnTo>
                      <a:pt x="21482430" y="642493"/>
                    </a:lnTo>
                    <a:close/>
                    <a:moveTo>
                      <a:pt x="21468460" y="21971"/>
                    </a:moveTo>
                    <a:lnTo>
                      <a:pt x="21468460" y="0"/>
                    </a:lnTo>
                    <a:lnTo>
                      <a:pt x="21510244" y="0"/>
                    </a:lnTo>
                    <a:lnTo>
                      <a:pt x="21510244" y="21844"/>
                    </a:lnTo>
                    <a:lnTo>
                      <a:pt x="21468460" y="21844"/>
                    </a:lnTo>
                    <a:close/>
                  </a:path>
                </a:pathLst>
              </a:custGeom>
              <a:solidFill>
                <a:srgbClr val="FFFFFF"/>
              </a:solidFill>
            </p:spPr>
          </p:sp>
        </p:grpSp>
      </p:grpSp>
      <p:sp>
        <p:nvSpPr>
          <p:cNvPr name="Freeform 7" id="7"/>
          <p:cNvSpPr/>
          <p:nvPr/>
        </p:nvSpPr>
        <p:spPr>
          <a:xfrm flipH="false" flipV="false" rot="0">
            <a:off x="2541055" y="3562719"/>
            <a:ext cx="793903" cy="663901"/>
          </a:xfrm>
          <a:custGeom>
            <a:avLst/>
            <a:gdLst/>
            <a:ahLst/>
            <a:cxnLst/>
            <a:rect r="r" b="b" t="t" l="l"/>
            <a:pathLst>
              <a:path h="663901" w="793903">
                <a:moveTo>
                  <a:pt x="0" y="0"/>
                </a:moveTo>
                <a:lnTo>
                  <a:pt x="793902" y="0"/>
                </a:lnTo>
                <a:lnTo>
                  <a:pt x="793902" y="663901"/>
                </a:lnTo>
                <a:lnTo>
                  <a:pt x="0" y="6639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3442818" y="5362732"/>
            <a:ext cx="793903" cy="663901"/>
          </a:xfrm>
          <a:custGeom>
            <a:avLst/>
            <a:gdLst/>
            <a:ahLst/>
            <a:cxnLst/>
            <a:rect r="r" b="b" t="t" l="l"/>
            <a:pathLst>
              <a:path h="663901" w="793903">
                <a:moveTo>
                  <a:pt x="0" y="0"/>
                </a:moveTo>
                <a:lnTo>
                  <a:pt x="793903" y="0"/>
                </a:lnTo>
                <a:lnTo>
                  <a:pt x="793903" y="663901"/>
                </a:lnTo>
                <a:lnTo>
                  <a:pt x="0" y="6639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5414032" y="4558570"/>
            <a:ext cx="793903" cy="663901"/>
          </a:xfrm>
          <a:custGeom>
            <a:avLst/>
            <a:gdLst/>
            <a:ahLst/>
            <a:cxnLst/>
            <a:rect r="r" b="b" t="t" l="l"/>
            <a:pathLst>
              <a:path h="663901" w="793903">
                <a:moveTo>
                  <a:pt x="0" y="0"/>
                </a:moveTo>
                <a:lnTo>
                  <a:pt x="793903" y="0"/>
                </a:lnTo>
                <a:lnTo>
                  <a:pt x="793903" y="663902"/>
                </a:lnTo>
                <a:lnTo>
                  <a:pt x="0" y="6639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7394518" y="3894669"/>
            <a:ext cx="793903" cy="663901"/>
          </a:xfrm>
          <a:custGeom>
            <a:avLst/>
            <a:gdLst/>
            <a:ahLst/>
            <a:cxnLst/>
            <a:rect r="r" b="b" t="t" l="l"/>
            <a:pathLst>
              <a:path h="663901" w="793903">
                <a:moveTo>
                  <a:pt x="0" y="0"/>
                </a:moveTo>
                <a:lnTo>
                  <a:pt x="793903" y="0"/>
                </a:lnTo>
                <a:lnTo>
                  <a:pt x="793903" y="663901"/>
                </a:lnTo>
                <a:lnTo>
                  <a:pt x="0" y="6639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4384436" y="2993699"/>
            <a:ext cx="793903" cy="663901"/>
          </a:xfrm>
          <a:custGeom>
            <a:avLst/>
            <a:gdLst/>
            <a:ahLst/>
            <a:cxnLst/>
            <a:rect r="r" b="b" t="t" l="l"/>
            <a:pathLst>
              <a:path h="663901" w="793903">
                <a:moveTo>
                  <a:pt x="0" y="0"/>
                </a:moveTo>
                <a:lnTo>
                  <a:pt x="793903" y="0"/>
                </a:lnTo>
                <a:lnTo>
                  <a:pt x="793903" y="663901"/>
                </a:lnTo>
                <a:lnTo>
                  <a:pt x="0" y="66390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2" id="12"/>
          <p:cNvSpPr/>
          <p:nvPr/>
        </p:nvSpPr>
        <p:spPr>
          <a:xfrm flipH="false" flipV="false" rot="0">
            <a:off x="6378395" y="2329797"/>
            <a:ext cx="793903" cy="663901"/>
          </a:xfrm>
          <a:custGeom>
            <a:avLst/>
            <a:gdLst/>
            <a:ahLst/>
            <a:cxnLst/>
            <a:rect r="r" b="b" t="t" l="l"/>
            <a:pathLst>
              <a:path h="663901" w="793903">
                <a:moveTo>
                  <a:pt x="0" y="0"/>
                </a:moveTo>
                <a:lnTo>
                  <a:pt x="793903" y="0"/>
                </a:lnTo>
                <a:lnTo>
                  <a:pt x="793903" y="663902"/>
                </a:lnTo>
                <a:lnTo>
                  <a:pt x="0" y="6639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650710" y="707151"/>
            <a:ext cx="3294592" cy="1299592"/>
            <a:chOff x="0" y="0"/>
            <a:chExt cx="1123355" cy="443121"/>
          </a:xfrm>
        </p:grpSpPr>
        <p:sp>
          <p:nvSpPr>
            <p:cNvPr name="Freeform 14" id="14"/>
            <p:cNvSpPr/>
            <p:nvPr/>
          </p:nvSpPr>
          <p:spPr>
            <a:xfrm flipH="false" flipV="false" rot="0">
              <a:off x="0" y="0"/>
              <a:ext cx="1123355" cy="443121"/>
            </a:xfrm>
            <a:custGeom>
              <a:avLst/>
              <a:gdLst/>
              <a:ahLst/>
              <a:cxnLst/>
              <a:rect r="r" b="b" t="t" l="l"/>
              <a:pathLst>
                <a:path h="443121" w="1123355">
                  <a:moveTo>
                    <a:pt x="0" y="0"/>
                  </a:moveTo>
                  <a:lnTo>
                    <a:pt x="1123355" y="0"/>
                  </a:lnTo>
                  <a:lnTo>
                    <a:pt x="1123355" y="443121"/>
                  </a:lnTo>
                  <a:lnTo>
                    <a:pt x="0" y="443121"/>
                  </a:lnTo>
                  <a:close/>
                </a:path>
              </a:pathLst>
            </a:custGeom>
            <a:solidFill>
              <a:srgbClr val="000000">
                <a:alpha val="0"/>
              </a:srgbClr>
            </a:solidFill>
            <a:ln w="19050" cap="sq">
              <a:solidFill>
                <a:srgbClr val="004AAD"/>
              </a:solidFill>
              <a:prstDash val="solid"/>
              <a:miter/>
            </a:ln>
          </p:spPr>
        </p:sp>
        <p:sp>
          <p:nvSpPr>
            <p:cNvPr name="TextBox 15" id="15"/>
            <p:cNvSpPr txBox="true"/>
            <p:nvPr/>
          </p:nvSpPr>
          <p:spPr>
            <a:xfrm>
              <a:off x="0" y="-28575"/>
              <a:ext cx="1123355" cy="471696"/>
            </a:xfrm>
            <a:prstGeom prst="rect">
              <a:avLst/>
            </a:prstGeom>
          </p:spPr>
          <p:txBody>
            <a:bodyPr anchor="ctr" rtlCol="false" tIns="50800" lIns="50800" bIns="50800" rIns="50800"/>
            <a:lstStyle/>
            <a:p>
              <a:pPr algn="ctr">
                <a:lnSpc>
                  <a:spcPts val="1460"/>
                </a:lnSpc>
              </a:pPr>
            </a:p>
          </p:txBody>
        </p:sp>
      </p:grpSp>
      <p:sp>
        <p:nvSpPr>
          <p:cNvPr name="TextBox 16" id="16"/>
          <p:cNvSpPr txBox="true"/>
          <p:nvPr/>
        </p:nvSpPr>
        <p:spPr>
          <a:xfrm rot="0">
            <a:off x="702553" y="321919"/>
            <a:ext cx="3192022" cy="1672336"/>
          </a:xfrm>
          <a:prstGeom prst="rect">
            <a:avLst/>
          </a:prstGeom>
        </p:spPr>
        <p:txBody>
          <a:bodyPr anchor="t" rtlCol="false" tIns="0" lIns="0" bIns="0" rIns="0">
            <a:spAutoFit/>
          </a:bodyPr>
          <a:lstStyle/>
          <a:p>
            <a:pPr algn="ctr">
              <a:lnSpc>
                <a:spcPts val="6564"/>
              </a:lnSpc>
            </a:pPr>
            <a:r>
              <a:rPr lang="en-US" b="true" sz="4688">
                <a:solidFill>
                  <a:srgbClr val="004AAD"/>
                </a:solidFill>
                <a:latin typeface="Poppins Bold"/>
                <a:ea typeface="Poppins Bold"/>
                <a:cs typeface="Poppins Bold"/>
                <a:sym typeface="Poppins Bold"/>
              </a:rPr>
              <a:t> OVERVIEW</a:t>
            </a:r>
          </a:p>
        </p:txBody>
      </p:sp>
      <p:sp>
        <p:nvSpPr>
          <p:cNvPr name="TextBox 17" id="17"/>
          <p:cNvSpPr txBox="true"/>
          <p:nvPr/>
        </p:nvSpPr>
        <p:spPr>
          <a:xfrm rot="0">
            <a:off x="895905" y="3254256"/>
            <a:ext cx="1402660" cy="825225"/>
          </a:xfrm>
          <a:prstGeom prst="rect">
            <a:avLst/>
          </a:prstGeom>
        </p:spPr>
        <p:txBody>
          <a:bodyPr anchor="t" rtlCol="false" tIns="0" lIns="0" bIns="0" rIns="0">
            <a:spAutoFit/>
          </a:bodyPr>
          <a:lstStyle/>
          <a:p>
            <a:pPr algn="ctr">
              <a:lnSpc>
                <a:spcPts val="1328"/>
              </a:lnSpc>
            </a:pPr>
            <a:r>
              <a:rPr lang="en-US" sz="1021" spc="59">
                <a:solidFill>
                  <a:srgbClr val="000000"/>
                </a:solidFill>
                <a:latin typeface="Poppins"/>
                <a:ea typeface="Poppins"/>
                <a:cs typeface="Poppins"/>
                <a:sym typeface="Poppins"/>
              </a:rPr>
              <a:t>H</a:t>
            </a:r>
            <a:r>
              <a:rPr lang="en-US" sz="1021" spc="59">
                <a:solidFill>
                  <a:srgbClr val="000000"/>
                </a:solidFill>
                <a:latin typeface="Poppins"/>
                <a:ea typeface="Poppins"/>
                <a:cs typeface="Poppins"/>
                <a:sym typeface="Poppins"/>
              </a:rPr>
              <a:t>ere, the system initializes and loads the input image for preprocessing.</a:t>
            </a:r>
          </a:p>
        </p:txBody>
      </p:sp>
      <p:sp>
        <p:nvSpPr>
          <p:cNvPr name="TextBox 18" id="18"/>
          <p:cNvSpPr txBox="true"/>
          <p:nvPr/>
        </p:nvSpPr>
        <p:spPr>
          <a:xfrm rot="0">
            <a:off x="1138395" y="2996823"/>
            <a:ext cx="917678" cy="195280"/>
          </a:xfrm>
          <a:prstGeom prst="rect">
            <a:avLst/>
          </a:prstGeom>
        </p:spPr>
        <p:txBody>
          <a:bodyPr anchor="t" rtlCol="false" tIns="0" lIns="0" bIns="0" rIns="0">
            <a:spAutoFit/>
          </a:bodyPr>
          <a:lstStyle/>
          <a:p>
            <a:pPr algn="ctr">
              <a:lnSpc>
                <a:spcPts val="1460"/>
              </a:lnSpc>
            </a:pPr>
            <a:r>
              <a:rPr lang="en-US" b="true" sz="1123">
                <a:solidFill>
                  <a:srgbClr val="004AAD"/>
                </a:solidFill>
                <a:latin typeface="Poppins Bold"/>
                <a:ea typeface="Poppins Bold"/>
                <a:cs typeface="Poppins Bold"/>
                <a:sym typeface="Poppins Bold"/>
              </a:rPr>
              <a:t>STEP 1</a:t>
            </a:r>
          </a:p>
        </p:txBody>
      </p:sp>
      <p:sp>
        <p:nvSpPr>
          <p:cNvPr name="TextBox 19" id="19"/>
          <p:cNvSpPr txBox="true"/>
          <p:nvPr/>
        </p:nvSpPr>
        <p:spPr>
          <a:xfrm rot="0">
            <a:off x="3517460" y="2092274"/>
            <a:ext cx="2019965" cy="825225"/>
          </a:xfrm>
          <a:prstGeom prst="rect">
            <a:avLst/>
          </a:prstGeom>
        </p:spPr>
        <p:txBody>
          <a:bodyPr anchor="t" rtlCol="false" tIns="0" lIns="0" bIns="0" rIns="0">
            <a:spAutoFit/>
          </a:bodyPr>
          <a:lstStyle/>
          <a:p>
            <a:pPr algn="ctr">
              <a:lnSpc>
                <a:spcPts val="1328"/>
              </a:lnSpc>
            </a:pPr>
            <a:r>
              <a:rPr lang="en-US" sz="1021" spc="59">
                <a:solidFill>
                  <a:srgbClr val="000000"/>
                </a:solidFill>
                <a:latin typeface="Poppins"/>
                <a:ea typeface="Poppins"/>
                <a:cs typeface="Poppins"/>
                <a:sym typeface="Poppins"/>
              </a:rPr>
              <a:t>Th</a:t>
            </a:r>
            <a:r>
              <a:rPr lang="en-US" sz="1021" spc="59">
                <a:solidFill>
                  <a:srgbClr val="000000"/>
                </a:solidFill>
                <a:latin typeface="Poppins"/>
                <a:ea typeface="Poppins"/>
                <a:cs typeface="Poppins"/>
                <a:sym typeface="Poppins"/>
              </a:rPr>
              <a:t>e image is divided into 8×8 blocks, and gradient values are used to find suitable low-complexity embedding regions.</a:t>
            </a:r>
          </a:p>
        </p:txBody>
      </p:sp>
      <p:sp>
        <p:nvSpPr>
          <p:cNvPr name="TextBox 20" id="20"/>
          <p:cNvSpPr txBox="true"/>
          <p:nvPr/>
        </p:nvSpPr>
        <p:spPr>
          <a:xfrm rot="0">
            <a:off x="4068603" y="1834179"/>
            <a:ext cx="917678" cy="195280"/>
          </a:xfrm>
          <a:prstGeom prst="rect">
            <a:avLst/>
          </a:prstGeom>
        </p:spPr>
        <p:txBody>
          <a:bodyPr anchor="t" rtlCol="false" tIns="0" lIns="0" bIns="0" rIns="0">
            <a:spAutoFit/>
          </a:bodyPr>
          <a:lstStyle/>
          <a:p>
            <a:pPr algn="ctr">
              <a:lnSpc>
                <a:spcPts val="1460"/>
              </a:lnSpc>
            </a:pPr>
            <a:r>
              <a:rPr lang="en-US" b="true" sz="1123">
                <a:solidFill>
                  <a:srgbClr val="004AAD"/>
                </a:solidFill>
                <a:latin typeface="Poppins Bold"/>
                <a:ea typeface="Poppins Bold"/>
                <a:cs typeface="Poppins Bold"/>
                <a:sym typeface="Poppins Bold"/>
              </a:rPr>
              <a:t>STEP 3</a:t>
            </a:r>
          </a:p>
        </p:txBody>
      </p:sp>
      <p:sp>
        <p:nvSpPr>
          <p:cNvPr name="TextBox 21" id="21"/>
          <p:cNvSpPr txBox="true"/>
          <p:nvPr/>
        </p:nvSpPr>
        <p:spPr>
          <a:xfrm rot="0">
            <a:off x="5785104" y="1371470"/>
            <a:ext cx="1980486" cy="825225"/>
          </a:xfrm>
          <a:prstGeom prst="rect">
            <a:avLst/>
          </a:prstGeom>
        </p:spPr>
        <p:txBody>
          <a:bodyPr anchor="t" rtlCol="false" tIns="0" lIns="0" bIns="0" rIns="0">
            <a:spAutoFit/>
          </a:bodyPr>
          <a:lstStyle/>
          <a:p>
            <a:pPr algn="ctr">
              <a:lnSpc>
                <a:spcPts val="1328"/>
              </a:lnSpc>
            </a:pPr>
            <a:r>
              <a:rPr lang="en-US" sz="1021" spc="59">
                <a:solidFill>
                  <a:srgbClr val="000000"/>
                </a:solidFill>
                <a:latin typeface="Poppins"/>
                <a:ea typeface="Poppins"/>
                <a:cs typeface="Poppins"/>
                <a:sym typeface="Poppins"/>
              </a:rPr>
              <a:t>Th</a:t>
            </a:r>
            <a:r>
              <a:rPr lang="en-US" sz="1021" spc="59">
                <a:solidFill>
                  <a:srgbClr val="000000"/>
                </a:solidFill>
                <a:latin typeface="Poppins"/>
                <a:ea typeface="Poppins"/>
                <a:cs typeface="Poppins"/>
                <a:sym typeface="Poppins"/>
              </a:rPr>
              <a:t>e final embedded image is saved and displayed. You can see that visual quality remains nearly unchanged.</a:t>
            </a:r>
          </a:p>
        </p:txBody>
      </p:sp>
      <p:sp>
        <p:nvSpPr>
          <p:cNvPr name="TextBox 22" id="22"/>
          <p:cNvSpPr txBox="true"/>
          <p:nvPr/>
        </p:nvSpPr>
        <p:spPr>
          <a:xfrm rot="0">
            <a:off x="6207935" y="1071663"/>
            <a:ext cx="917678" cy="195280"/>
          </a:xfrm>
          <a:prstGeom prst="rect">
            <a:avLst/>
          </a:prstGeom>
        </p:spPr>
        <p:txBody>
          <a:bodyPr anchor="t" rtlCol="false" tIns="0" lIns="0" bIns="0" rIns="0">
            <a:spAutoFit/>
          </a:bodyPr>
          <a:lstStyle/>
          <a:p>
            <a:pPr algn="ctr">
              <a:lnSpc>
                <a:spcPts val="1460"/>
              </a:lnSpc>
            </a:pPr>
            <a:r>
              <a:rPr lang="en-US" b="true" sz="1123">
                <a:solidFill>
                  <a:srgbClr val="004AAD"/>
                </a:solidFill>
                <a:latin typeface="Poppins Bold"/>
                <a:ea typeface="Poppins Bold"/>
                <a:cs typeface="Poppins Bold"/>
                <a:sym typeface="Poppins Bold"/>
              </a:rPr>
              <a:t>STEP 5</a:t>
            </a:r>
          </a:p>
        </p:txBody>
      </p:sp>
      <p:sp>
        <p:nvSpPr>
          <p:cNvPr name="TextBox 23" id="23"/>
          <p:cNvSpPr txBox="true"/>
          <p:nvPr/>
        </p:nvSpPr>
        <p:spPr>
          <a:xfrm rot="0">
            <a:off x="2599781" y="6157611"/>
            <a:ext cx="2538626" cy="825225"/>
          </a:xfrm>
          <a:prstGeom prst="rect">
            <a:avLst/>
          </a:prstGeom>
        </p:spPr>
        <p:txBody>
          <a:bodyPr anchor="t" rtlCol="false" tIns="0" lIns="0" bIns="0" rIns="0">
            <a:spAutoFit/>
          </a:bodyPr>
          <a:lstStyle/>
          <a:p>
            <a:pPr algn="l">
              <a:lnSpc>
                <a:spcPts val="1328"/>
              </a:lnSpc>
            </a:pPr>
            <a:r>
              <a:rPr lang="en-US" sz="1021" spc="59">
                <a:solidFill>
                  <a:srgbClr val="000000"/>
                </a:solidFill>
                <a:latin typeface="Poppins"/>
                <a:ea typeface="Poppins"/>
                <a:cs typeface="Poppins"/>
                <a:sym typeface="Poppins"/>
              </a:rPr>
              <a:t>Th</a:t>
            </a:r>
            <a:r>
              <a:rPr lang="en-US" sz="1021" spc="59">
                <a:solidFill>
                  <a:srgbClr val="000000"/>
                </a:solidFill>
                <a:latin typeface="Poppins"/>
                <a:ea typeface="Poppins"/>
                <a:cs typeface="Poppins"/>
                <a:sym typeface="Poppins"/>
              </a:rPr>
              <a:t>e secret message is </a:t>
            </a:r>
          </a:p>
          <a:p>
            <a:pPr algn="l">
              <a:lnSpc>
                <a:spcPts val="1328"/>
              </a:lnSpc>
            </a:pPr>
            <a:r>
              <a:rPr lang="en-US" sz="1021" spc="59">
                <a:solidFill>
                  <a:srgbClr val="000000"/>
                </a:solidFill>
                <a:latin typeface="Poppins"/>
                <a:ea typeface="Poppins"/>
                <a:cs typeface="Poppins"/>
                <a:sym typeface="Poppins"/>
              </a:rPr>
              <a:t>converted into a QR code,</a:t>
            </a:r>
          </a:p>
          <a:p>
            <a:pPr algn="l">
              <a:lnSpc>
                <a:spcPts val="1328"/>
              </a:lnSpc>
            </a:pPr>
            <a:r>
              <a:rPr lang="en-US" sz="1021" spc="59">
                <a:solidFill>
                  <a:srgbClr val="000000"/>
                </a:solidFill>
                <a:latin typeface="Poppins"/>
                <a:ea typeface="Poppins"/>
                <a:cs typeface="Poppins"/>
                <a:sym typeface="Poppins"/>
              </a:rPr>
              <a:t> which will be</a:t>
            </a:r>
          </a:p>
          <a:p>
            <a:pPr algn="l">
              <a:lnSpc>
                <a:spcPts val="1328"/>
              </a:lnSpc>
            </a:pPr>
            <a:r>
              <a:rPr lang="en-US" sz="1021" spc="59">
                <a:solidFill>
                  <a:srgbClr val="000000"/>
                </a:solidFill>
                <a:latin typeface="Poppins"/>
                <a:ea typeface="Poppins"/>
                <a:cs typeface="Poppins"/>
                <a:sym typeface="Poppins"/>
              </a:rPr>
              <a:t>embedded </a:t>
            </a:r>
          </a:p>
          <a:p>
            <a:pPr algn="l">
              <a:lnSpc>
                <a:spcPts val="1328"/>
              </a:lnSpc>
            </a:pPr>
            <a:r>
              <a:rPr lang="en-US" sz="1021" spc="59">
                <a:solidFill>
                  <a:srgbClr val="000000"/>
                </a:solidFill>
                <a:latin typeface="Poppins"/>
                <a:ea typeface="Poppins"/>
                <a:cs typeface="Poppins"/>
                <a:sym typeface="Poppins"/>
              </a:rPr>
              <a:t>inside the image.</a:t>
            </a:r>
          </a:p>
        </p:txBody>
      </p:sp>
      <p:sp>
        <p:nvSpPr>
          <p:cNvPr name="TextBox 24" id="24"/>
          <p:cNvSpPr txBox="true"/>
          <p:nvPr/>
        </p:nvSpPr>
        <p:spPr>
          <a:xfrm rot="0">
            <a:off x="2599781" y="5914706"/>
            <a:ext cx="917678" cy="195280"/>
          </a:xfrm>
          <a:prstGeom prst="rect">
            <a:avLst/>
          </a:prstGeom>
        </p:spPr>
        <p:txBody>
          <a:bodyPr anchor="t" rtlCol="false" tIns="0" lIns="0" bIns="0" rIns="0">
            <a:spAutoFit/>
          </a:bodyPr>
          <a:lstStyle/>
          <a:p>
            <a:pPr algn="l">
              <a:lnSpc>
                <a:spcPts val="1460"/>
              </a:lnSpc>
            </a:pPr>
            <a:r>
              <a:rPr lang="en-US" b="true" sz="1123">
                <a:solidFill>
                  <a:srgbClr val="FF9F29"/>
                </a:solidFill>
                <a:latin typeface="Poppins Bold"/>
                <a:ea typeface="Poppins Bold"/>
                <a:cs typeface="Poppins Bold"/>
                <a:sym typeface="Poppins Bold"/>
              </a:rPr>
              <a:t>STEP 2</a:t>
            </a:r>
          </a:p>
        </p:txBody>
      </p:sp>
      <p:sp>
        <p:nvSpPr>
          <p:cNvPr name="TextBox 25" id="25"/>
          <p:cNvSpPr txBox="true"/>
          <p:nvPr/>
        </p:nvSpPr>
        <p:spPr>
          <a:xfrm rot="0">
            <a:off x="5279388" y="5679341"/>
            <a:ext cx="1846225" cy="1303494"/>
          </a:xfrm>
          <a:prstGeom prst="rect">
            <a:avLst/>
          </a:prstGeom>
        </p:spPr>
        <p:txBody>
          <a:bodyPr anchor="t" rtlCol="false" tIns="0" lIns="0" bIns="0" rIns="0">
            <a:spAutoFit/>
          </a:bodyPr>
          <a:lstStyle/>
          <a:p>
            <a:pPr algn="l">
              <a:lnSpc>
                <a:spcPts val="1320"/>
              </a:lnSpc>
            </a:pPr>
            <a:r>
              <a:rPr lang="en-US" sz="1015" spc="58">
                <a:solidFill>
                  <a:srgbClr val="000000"/>
                </a:solidFill>
                <a:latin typeface="Poppins"/>
                <a:ea typeface="Poppins"/>
                <a:cs typeface="Poppins"/>
                <a:sym typeface="Poppins"/>
              </a:rPr>
              <a:t>Bas</a:t>
            </a:r>
            <a:r>
              <a:rPr lang="en-US" sz="1015" spc="58">
                <a:solidFill>
                  <a:srgbClr val="000000"/>
                </a:solidFill>
                <a:latin typeface="Poppins"/>
                <a:ea typeface="Poppins"/>
                <a:cs typeface="Poppins"/>
                <a:sym typeface="Poppins"/>
              </a:rPr>
              <a:t>ed on local complexity, one or two bits per pixel are embedded, ensuring high capacity and minimal distortion. The visible QR is then inserted in the Region of Interest.</a:t>
            </a:r>
          </a:p>
        </p:txBody>
      </p:sp>
      <p:sp>
        <p:nvSpPr>
          <p:cNvPr name="TextBox 26" id="26"/>
          <p:cNvSpPr txBox="true"/>
          <p:nvPr/>
        </p:nvSpPr>
        <p:spPr>
          <a:xfrm rot="0">
            <a:off x="5279388" y="5499402"/>
            <a:ext cx="917678" cy="195280"/>
          </a:xfrm>
          <a:prstGeom prst="rect">
            <a:avLst/>
          </a:prstGeom>
        </p:spPr>
        <p:txBody>
          <a:bodyPr anchor="t" rtlCol="false" tIns="0" lIns="0" bIns="0" rIns="0">
            <a:spAutoFit/>
          </a:bodyPr>
          <a:lstStyle/>
          <a:p>
            <a:pPr algn="l">
              <a:lnSpc>
                <a:spcPts val="1460"/>
              </a:lnSpc>
            </a:pPr>
            <a:r>
              <a:rPr lang="en-US" b="true" sz="1123">
                <a:solidFill>
                  <a:srgbClr val="FF9F29"/>
                </a:solidFill>
                <a:latin typeface="Poppins Bold"/>
                <a:ea typeface="Poppins Bold"/>
                <a:cs typeface="Poppins Bold"/>
                <a:sym typeface="Poppins Bold"/>
              </a:rPr>
              <a:t>STEP 4</a:t>
            </a:r>
          </a:p>
        </p:txBody>
      </p:sp>
      <p:sp>
        <p:nvSpPr>
          <p:cNvPr name="TextBox 27" id="27"/>
          <p:cNvSpPr txBox="true"/>
          <p:nvPr/>
        </p:nvSpPr>
        <p:spPr>
          <a:xfrm rot="0">
            <a:off x="7556263" y="4949639"/>
            <a:ext cx="1716750" cy="1796775"/>
          </a:xfrm>
          <a:prstGeom prst="rect">
            <a:avLst/>
          </a:prstGeom>
        </p:spPr>
        <p:txBody>
          <a:bodyPr anchor="t" rtlCol="false" tIns="0" lIns="0" bIns="0" rIns="0">
            <a:spAutoFit/>
          </a:bodyPr>
          <a:lstStyle/>
          <a:p>
            <a:pPr algn="l">
              <a:lnSpc>
                <a:spcPts val="1328"/>
              </a:lnSpc>
            </a:pPr>
            <a:r>
              <a:rPr lang="en-US" sz="1021" spc="59">
                <a:solidFill>
                  <a:srgbClr val="000000"/>
                </a:solidFill>
                <a:latin typeface="Poppins"/>
                <a:ea typeface="Poppins"/>
                <a:cs typeface="Poppins"/>
                <a:sym typeface="Poppins"/>
              </a:rPr>
              <a:t> </a:t>
            </a:r>
            <a:r>
              <a:rPr lang="en-US" sz="1021" spc="59">
                <a:solidFill>
                  <a:srgbClr val="000000"/>
                </a:solidFill>
                <a:latin typeface="Poppins"/>
                <a:ea typeface="Poppins"/>
                <a:cs typeface="Poppins"/>
                <a:sym typeface="Poppins"/>
              </a:rPr>
              <a:t>The system retrieves the hidden bits and reconstructs both the QR code and the original image.</a:t>
            </a:r>
          </a:p>
          <a:p>
            <a:pPr algn="l">
              <a:lnSpc>
                <a:spcPts val="1328"/>
              </a:lnSpc>
            </a:pPr>
          </a:p>
          <a:p>
            <a:pPr algn="l">
              <a:lnSpc>
                <a:spcPts val="1328"/>
              </a:lnSpc>
            </a:pPr>
            <a:r>
              <a:rPr lang="en-US" sz="1021" spc="59">
                <a:solidFill>
                  <a:srgbClr val="000000"/>
                </a:solidFill>
                <a:latin typeface="Poppins"/>
                <a:ea typeface="Poppins"/>
                <a:cs typeface="Poppins"/>
                <a:sym typeface="Poppins"/>
              </a:rPr>
              <a:t> We observe that the recovered image is visually identical to the original confirming reversibility.</a:t>
            </a:r>
          </a:p>
        </p:txBody>
      </p:sp>
      <p:sp>
        <p:nvSpPr>
          <p:cNvPr name="TextBox 28" id="28"/>
          <p:cNvSpPr txBox="true"/>
          <p:nvPr/>
        </p:nvSpPr>
        <p:spPr>
          <a:xfrm rot="0">
            <a:off x="7556263" y="4694476"/>
            <a:ext cx="917678" cy="195280"/>
          </a:xfrm>
          <a:prstGeom prst="rect">
            <a:avLst/>
          </a:prstGeom>
        </p:spPr>
        <p:txBody>
          <a:bodyPr anchor="t" rtlCol="false" tIns="0" lIns="0" bIns="0" rIns="0">
            <a:spAutoFit/>
          </a:bodyPr>
          <a:lstStyle/>
          <a:p>
            <a:pPr algn="l">
              <a:lnSpc>
                <a:spcPts val="1460"/>
              </a:lnSpc>
            </a:pPr>
            <a:r>
              <a:rPr lang="en-US" b="true" sz="1123">
                <a:solidFill>
                  <a:srgbClr val="FF9F29"/>
                </a:solidFill>
                <a:latin typeface="Poppins Bold"/>
                <a:ea typeface="Poppins Bold"/>
                <a:cs typeface="Poppins Bold"/>
                <a:sym typeface="Poppins Bold"/>
              </a:rPr>
              <a:t>STEP 6</a:t>
            </a:r>
          </a:p>
        </p:txBody>
      </p:sp>
      <p:sp>
        <p:nvSpPr>
          <p:cNvPr name="TextBox 29" id="29"/>
          <p:cNvSpPr txBox="true"/>
          <p:nvPr/>
        </p:nvSpPr>
        <p:spPr>
          <a:xfrm rot="0">
            <a:off x="635267" y="707844"/>
            <a:ext cx="3310035" cy="680013"/>
          </a:xfrm>
          <a:prstGeom prst="rect">
            <a:avLst/>
          </a:prstGeom>
        </p:spPr>
        <p:txBody>
          <a:bodyPr anchor="t" rtlCol="false" tIns="0" lIns="0" bIns="0" rIns="0">
            <a:spAutoFit/>
          </a:bodyPr>
          <a:lstStyle/>
          <a:p>
            <a:pPr algn="ctr">
              <a:lnSpc>
                <a:spcPts val="5361"/>
              </a:lnSpc>
            </a:pPr>
            <a:r>
              <a:rPr lang="en-US" b="true" sz="3829">
                <a:solidFill>
                  <a:srgbClr val="FF9F29"/>
                </a:solidFill>
                <a:latin typeface="Poppins Bold"/>
                <a:ea typeface="Poppins Bold"/>
                <a:cs typeface="Poppins Bold"/>
                <a:sym typeface="Poppins Bold"/>
              </a:rPr>
              <a:t>METHOD </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AEDED"/>
        </a:solidFill>
      </p:bgPr>
    </p:bg>
    <p:spTree>
      <p:nvGrpSpPr>
        <p:cNvPr id="1" name=""/>
        <p:cNvGrpSpPr/>
        <p:nvPr/>
      </p:nvGrpSpPr>
      <p:grpSpPr>
        <a:xfrm>
          <a:off x="0" y="0"/>
          <a:ext cx="0" cy="0"/>
          <a:chOff x="0" y="0"/>
          <a:chExt cx="0" cy="0"/>
        </a:xfrm>
      </p:grpSpPr>
      <p:grpSp>
        <p:nvGrpSpPr>
          <p:cNvPr name="Group 2" id="2"/>
          <p:cNvGrpSpPr/>
          <p:nvPr/>
        </p:nvGrpSpPr>
        <p:grpSpPr>
          <a:xfrm rot="0">
            <a:off x="2694466" y="707151"/>
            <a:ext cx="4364668" cy="1299592"/>
            <a:chOff x="0" y="0"/>
            <a:chExt cx="1488219" cy="443121"/>
          </a:xfrm>
        </p:grpSpPr>
        <p:sp>
          <p:nvSpPr>
            <p:cNvPr name="Freeform 3" id="3"/>
            <p:cNvSpPr/>
            <p:nvPr/>
          </p:nvSpPr>
          <p:spPr>
            <a:xfrm flipH="false" flipV="false" rot="0">
              <a:off x="0" y="0"/>
              <a:ext cx="1488219" cy="443121"/>
            </a:xfrm>
            <a:custGeom>
              <a:avLst/>
              <a:gdLst/>
              <a:ahLst/>
              <a:cxnLst/>
              <a:rect r="r" b="b" t="t" l="l"/>
              <a:pathLst>
                <a:path h="443121" w="1488219">
                  <a:moveTo>
                    <a:pt x="0" y="0"/>
                  </a:moveTo>
                  <a:lnTo>
                    <a:pt x="1488219" y="0"/>
                  </a:lnTo>
                  <a:lnTo>
                    <a:pt x="1488219" y="443121"/>
                  </a:lnTo>
                  <a:lnTo>
                    <a:pt x="0" y="443121"/>
                  </a:lnTo>
                  <a:close/>
                </a:path>
              </a:pathLst>
            </a:custGeom>
            <a:solidFill>
              <a:srgbClr val="000000">
                <a:alpha val="0"/>
              </a:srgbClr>
            </a:solidFill>
            <a:ln w="19050" cap="sq">
              <a:solidFill>
                <a:srgbClr val="004AAD"/>
              </a:solidFill>
              <a:prstDash val="solid"/>
              <a:miter/>
            </a:ln>
          </p:spPr>
        </p:sp>
        <p:sp>
          <p:nvSpPr>
            <p:cNvPr name="TextBox 4" id="4"/>
            <p:cNvSpPr txBox="true"/>
            <p:nvPr/>
          </p:nvSpPr>
          <p:spPr>
            <a:xfrm>
              <a:off x="0" y="-28575"/>
              <a:ext cx="1488219" cy="471696"/>
            </a:xfrm>
            <a:prstGeom prst="rect">
              <a:avLst/>
            </a:prstGeom>
          </p:spPr>
          <p:txBody>
            <a:bodyPr anchor="ctr" rtlCol="false" tIns="50800" lIns="50800" bIns="50800" rIns="50800"/>
            <a:lstStyle/>
            <a:p>
              <a:pPr algn="ctr">
                <a:lnSpc>
                  <a:spcPts val="1460"/>
                </a:lnSpc>
              </a:pPr>
            </a:p>
          </p:txBody>
        </p:sp>
      </p:grpSp>
      <p:sp>
        <p:nvSpPr>
          <p:cNvPr name="TextBox 5" id="5"/>
          <p:cNvSpPr txBox="true"/>
          <p:nvPr/>
        </p:nvSpPr>
        <p:spPr>
          <a:xfrm rot="0">
            <a:off x="2043514" y="1242647"/>
            <a:ext cx="5666572" cy="684819"/>
          </a:xfrm>
          <a:prstGeom prst="rect">
            <a:avLst/>
          </a:prstGeom>
        </p:spPr>
        <p:txBody>
          <a:bodyPr anchor="t" rtlCol="false" tIns="0" lIns="0" bIns="0" rIns="0">
            <a:spAutoFit/>
          </a:bodyPr>
          <a:lstStyle/>
          <a:p>
            <a:pPr algn="ctr">
              <a:lnSpc>
                <a:spcPts val="5304"/>
              </a:lnSpc>
            </a:pPr>
            <a:r>
              <a:rPr lang="en-US" b="true" sz="3788">
                <a:solidFill>
                  <a:srgbClr val="004AAD"/>
                </a:solidFill>
                <a:latin typeface="Poppins Bold"/>
                <a:ea typeface="Poppins Bold"/>
                <a:cs typeface="Poppins Bold"/>
                <a:sym typeface="Poppins Bold"/>
              </a:rPr>
              <a:t>FLOW DIAGRAM</a:t>
            </a:r>
          </a:p>
        </p:txBody>
      </p:sp>
      <p:sp>
        <p:nvSpPr>
          <p:cNvPr name="TextBox 6" id="6"/>
          <p:cNvSpPr txBox="true"/>
          <p:nvPr/>
        </p:nvSpPr>
        <p:spPr>
          <a:xfrm rot="0">
            <a:off x="2835210" y="676934"/>
            <a:ext cx="4083180" cy="680013"/>
          </a:xfrm>
          <a:prstGeom prst="rect">
            <a:avLst/>
          </a:prstGeom>
        </p:spPr>
        <p:txBody>
          <a:bodyPr anchor="t" rtlCol="false" tIns="0" lIns="0" bIns="0" rIns="0">
            <a:spAutoFit/>
          </a:bodyPr>
          <a:lstStyle/>
          <a:p>
            <a:pPr algn="ctr">
              <a:lnSpc>
                <a:spcPts val="5361"/>
              </a:lnSpc>
            </a:pPr>
            <a:r>
              <a:rPr lang="en-US" b="true" sz="3829">
                <a:solidFill>
                  <a:srgbClr val="FF9F29"/>
                </a:solidFill>
                <a:latin typeface="Poppins Bold"/>
                <a:ea typeface="Poppins Bold"/>
                <a:cs typeface="Poppins Bold"/>
                <a:sym typeface="Poppins Bold"/>
              </a:rPr>
              <a:t>METHODOLOGY</a:t>
            </a:r>
          </a:p>
        </p:txBody>
      </p:sp>
      <p:sp>
        <p:nvSpPr>
          <p:cNvPr name="TextBox 7" id="7"/>
          <p:cNvSpPr txBox="true"/>
          <p:nvPr/>
        </p:nvSpPr>
        <p:spPr>
          <a:xfrm rot="0">
            <a:off x="731520" y="2183328"/>
            <a:ext cx="8493054" cy="4530198"/>
          </a:xfrm>
          <a:prstGeom prst="rect">
            <a:avLst/>
          </a:prstGeom>
        </p:spPr>
        <p:txBody>
          <a:bodyPr anchor="t" rtlCol="false" tIns="0" lIns="0" bIns="0" rIns="0">
            <a:spAutoFit/>
          </a:bodyPr>
          <a:lstStyle/>
          <a:p>
            <a:pPr algn="l">
              <a:lnSpc>
                <a:spcPts val="2608"/>
              </a:lnSpc>
            </a:pPr>
            <a:r>
              <a:rPr lang="en-US" sz="1837">
                <a:solidFill>
                  <a:srgbClr val="000000"/>
                </a:solidFill>
                <a:latin typeface="Montserrat"/>
                <a:ea typeface="Montserrat"/>
                <a:cs typeface="Montserrat"/>
                <a:sym typeface="Montserrat"/>
              </a:rPr>
              <a:t>Step-by-step</a:t>
            </a:r>
            <a:r>
              <a:rPr lang="en-US" sz="1837">
                <a:solidFill>
                  <a:srgbClr val="000000"/>
                </a:solidFill>
                <a:latin typeface="Montserrat"/>
                <a:ea typeface="Montserrat"/>
                <a:cs typeface="Montserrat"/>
                <a:sym typeface="Montserrat"/>
              </a:rPr>
              <a:t> Workflow:</a:t>
            </a:r>
          </a:p>
          <a:p>
            <a:pPr algn="l" marL="396621" indent="-198310" lvl="1">
              <a:lnSpc>
                <a:spcPts val="2608"/>
              </a:lnSpc>
              <a:buAutoNum type="arabicPeriod" startAt="1"/>
            </a:pPr>
            <a:r>
              <a:rPr lang="en-US" b="true" sz="1837">
                <a:solidFill>
                  <a:srgbClr val="000000"/>
                </a:solidFill>
                <a:latin typeface="Montserrat Bold"/>
                <a:ea typeface="Montserrat Bold"/>
                <a:cs typeface="Montserrat Bold"/>
                <a:sym typeface="Montserrat Bold"/>
              </a:rPr>
              <a:t>Input Original Image</a:t>
            </a:r>
            <a:r>
              <a:rPr lang="en-US" sz="1837">
                <a:solidFill>
                  <a:srgbClr val="000000"/>
                </a:solidFill>
                <a:latin typeface="Montserrat"/>
                <a:ea typeface="Montserrat"/>
                <a:cs typeface="Montserrat"/>
                <a:sym typeface="Montserrat"/>
              </a:rPr>
              <a:t> – e.g., a grayscale or medical image.</a:t>
            </a:r>
          </a:p>
          <a:p>
            <a:pPr algn="l" marL="396621" indent="-198310" lvl="1">
              <a:lnSpc>
                <a:spcPts val="2608"/>
              </a:lnSpc>
              <a:buAutoNum type="arabicPeriod" startAt="1"/>
            </a:pPr>
            <a:r>
              <a:rPr lang="en-US" b="true" sz="1837">
                <a:solidFill>
                  <a:srgbClr val="000000"/>
                </a:solidFill>
                <a:latin typeface="Montserrat Bold"/>
                <a:ea typeface="Montserrat Bold"/>
                <a:cs typeface="Montserrat Bold"/>
                <a:sym typeface="Montserrat Bold"/>
              </a:rPr>
              <a:t>Generate</a:t>
            </a:r>
            <a:r>
              <a:rPr lang="en-US" b="true" sz="1837">
                <a:solidFill>
                  <a:srgbClr val="000000"/>
                </a:solidFill>
                <a:latin typeface="Montserrat Bold"/>
                <a:ea typeface="Montserrat Bold"/>
                <a:cs typeface="Montserrat Bold"/>
                <a:sym typeface="Montserrat Bold"/>
              </a:rPr>
              <a:t> QR Code</a:t>
            </a:r>
            <a:r>
              <a:rPr lang="en-US" sz="1837">
                <a:solidFill>
                  <a:srgbClr val="000000"/>
                </a:solidFill>
                <a:latin typeface="Montserrat"/>
                <a:ea typeface="Montserrat"/>
                <a:cs typeface="Montserrat"/>
                <a:sym typeface="Montserrat"/>
              </a:rPr>
              <a:t> – using url containing info or patient-related data.</a:t>
            </a:r>
          </a:p>
          <a:p>
            <a:pPr algn="l" marL="396621" indent="-198310" lvl="1">
              <a:lnSpc>
                <a:spcPts val="2608"/>
              </a:lnSpc>
              <a:buAutoNum type="arabicPeriod" startAt="1"/>
            </a:pPr>
            <a:r>
              <a:rPr lang="en-US" b="true" sz="1837">
                <a:solidFill>
                  <a:srgbClr val="000000"/>
                </a:solidFill>
                <a:latin typeface="Montserrat Bold"/>
                <a:ea typeface="Montserrat Bold"/>
                <a:cs typeface="Montserrat Bold"/>
                <a:sym typeface="Montserrat Bold"/>
              </a:rPr>
              <a:t>Select</a:t>
            </a:r>
            <a:r>
              <a:rPr lang="en-US" b="true" sz="1837">
                <a:solidFill>
                  <a:srgbClr val="000000"/>
                </a:solidFill>
                <a:latin typeface="Montserrat Bold"/>
                <a:ea typeface="Montserrat Bold"/>
                <a:cs typeface="Montserrat Bold"/>
                <a:sym typeface="Montserrat Bold"/>
              </a:rPr>
              <a:t> Embedding Regions</a:t>
            </a:r>
            <a:r>
              <a:rPr lang="en-US" sz="1837">
                <a:solidFill>
                  <a:srgbClr val="000000"/>
                </a:solidFill>
                <a:latin typeface="Montserrat"/>
                <a:ea typeface="Montserrat"/>
                <a:cs typeface="Montserrat"/>
                <a:sym typeface="Montserrat"/>
              </a:rPr>
              <a:t> – done by algorithm in adaptive basis - identify suitable pixel blocks for data embedding.</a:t>
            </a:r>
          </a:p>
          <a:p>
            <a:pPr algn="l" marL="396621" indent="-198310" lvl="1">
              <a:lnSpc>
                <a:spcPts val="2608"/>
              </a:lnSpc>
              <a:buAutoNum type="arabicPeriod" startAt="1"/>
            </a:pPr>
            <a:r>
              <a:rPr lang="en-US" b="true" sz="1837">
                <a:solidFill>
                  <a:srgbClr val="000000"/>
                </a:solidFill>
                <a:latin typeface="Montserrat Bold"/>
                <a:ea typeface="Montserrat Bold"/>
                <a:cs typeface="Montserrat Bold"/>
                <a:sym typeface="Montserrat Bold"/>
              </a:rPr>
              <a:t>Embed QR Bits using Algorithm</a:t>
            </a:r>
            <a:r>
              <a:rPr lang="en-US" sz="1837">
                <a:solidFill>
                  <a:srgbClr val="000000"/>
                </a:solidFill>
                <a:latin typeface="Montserrat"/>
                <a:ea typeface="Montserrat"/>
                <a:cs typeface="Montserrat"/>
                <a:sym typeface="Montserrat"/>
              </a:rPr>
              <a:t> – modify pixel values slightly to store QR bits.</a:t>
            </a:r>
          </a:p>
          <a:p>
            <a:pPr algn="l" marL="396621" indent="-198310" lvl="1">
              <a:lnSpc>
                <a:spcPts val="2608"/>
              </a:lnSpc>
              <a:buAutoNum type="arabicPeriod" startAt="1"/>
            </a:pPr>
            <a:r>
              <a:rPr lang="en-US" b="true" sz="1837">
                <a:solidFill>
                  <a:srgbClr val="000000"/>
                </a:solidFill>
                <a:latin typeface="Montserrat Bold"/>
                <a:ea typeface="Montserrat Bold"/>
                <a:cs typeface="Montserrat Bold"/>
                <a:sym typeface="Montserrat Bold"/>
              </a:rPr>
              <a:t>Output Embedded Image</a:t>
            </a:r>
            <a:r>
              <a:rPr lang="en-US" sz="1837">
                <a:solidFill>
                  <a:srgbClr val="000000"/>
                </a:solidFill>
                <a:latin typeface="Montserrat"/>
                <a:ea typeface="Montserrat"/>
                <a:cs typeface="Montserrat"/>
                <a:sym typeface="Montserrat"/>
              </a:rPr>
              <a:t> – image now securely carries hidden information.</a:t>
            </a:r>
          </a:p>
          <a:p>
            <a:pPr algn="l" marL="396621" indent="-198310" lvl="1">
              <a:lnSpc>
                <a:spcPts val="2608"/>
              </a:lnSpc>
              <a:buAutoNum type="arabicPeriod" startAt="1"/>
            </a:pPr>
            <a:r>
              <a:rPr lang="en-US" b="true" sz="1837">
                <a:solidFill>
                  <a:srgbClr val="000000"/>
                </a:solidFill>
                <a:latin typeface="Montserrat Bold"/>
                <a:ea typeface="Montserrat Bold"/>
                <a:cs typeface="Montserrat Bold"/>
                <a:sym typeface="Montserrat Bold"/>
              </a:rPr>
              <a:t>Extract and Recover</a:t>
            </a:r>
            <a:r>
              <a:rPr lang="en-US" sz="1837">
                <a:solidFill>
                  <a:srgbClr val="000000"/>
                </a:solidFill>
                <a:latin typeface="Montserrat"/>
                <a:ea typeface="Montserrat"/>
                <a:cs typeface="Montserrat"/>
                <a:sym typeface="Montserrat"/>
              </a:rPr>
              <a:t> – retrieve the QR code and restore the original image with zero loss.</a:t>
            </a:r>
          </a:p>
          <a:p>
            <a:pPr algn="l" marL="396621" indent="-198310" lvl="1">
              <a:lnSpc>
                <a:spcPts val="2608"/>
              </a:lnSpc>
              <a:buAutoNum type="arabicPeriod" startAt="1"/>
            </a:pPr>
            <a:r>
              <a:rPr lang="en-US" b="true" sz="1837">
                <a:solidFill>
                  <a:srgbClr val="000000"/>
                </a:solidFill>
                <a:latin typeface="Montserrat Bold"/>
                <a:ea typeface="Montserrat Bold"/>
                <a:cs typeface="Montserrat Bold"/>
                <a:sym typeface="Montserrat Bold"/>
              </a:rPr>
              <a:t>Validate QR Code</a:t>
            </a:r>
            <a:r>
              <a:rPr lang="en-US" sz="1837">
                <a:solidFill>
                  <a:srgbClr val="000000"/>
                </a:solidFill>
                <a:latin typeface="Montserrat"/>
                <a:ea typeface="Montserrat"/>
                <a:cs typeface="Montserrat"/>
                <a:sym typeface="Montserrat"/>
              </a:rPr>
              <a:t> – ensure it remains readable and accurate.</a:t>
            </a:r>
          </a:p>
          <a:p>
            <a:pPr algn="l">
              <a:lnSpc>
                <a:spcPts val="2608"/>
              </a:lnSpc>
            </a:pP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AEDED"/>
        </a:solidFill>
      </p:bgPr>
    </p:bg>
    <p:spTree>
      <p:nvGrpSpPr>
        <p:cNvPr id="1" name=""/>
        <p:cNvGrpSpPr/>
        <p:nvPr/>
      </p:nvGrpSpPr>
      <p:grpSpPr>
        <a:xfrm>
          <a:off x="0" y="0"/>
          <a:ext cx="0" cy="0"/>
          <a:chOff x="0" y="0"/>
          <a:chExt cx="0" cy="0"/>
        </a:xfrm>
      </p:grpSpPr>
      <p:grpSp>
        <p:nvGrpSpPr>
          <p:cNvPr name="Group 2" id="2"/>
          <p:cNvGrpSpPr/>
          <p:nvPr/>
        </p:nvGrpSpPr>
        <p:grpSpPr>
          <a:xfrm rot="0">
            <a:off x="2694466" y="707151"/>
            <a:ext cx="4364668" cy="1299592"/>
            <a:chOff x="0" y="0"/>
            <a:chExt cx="1488219" cy="443121"/>
          </a:xfrm>
        </p:grpSpPr>
        <p:sp>
          <p:nvSpPr>
            <p:cNvPr name="Freeform 3" id="3"/>
            <p:cNvSpPr/>
            <p:nvPr/>
          </p:nvSpPr>
          <p:spPr>
            <a:xfrm flipH="false" flipV="false" rot="0">
              <a:off x="0" y="0"/>
              <a:ext cx="1488219" cy="443121"/>
            </a:xfrm>
            <a:custGeom>
              <a:avLst/>
              <a:gdLst/>
              <a:ahLst/>
              <a:cxnLst/>
              <a:rect r="r" b="b" t="t" l="l"/>
              <a:pathLst>
                <a:path h="443121" w="1488219">
                  <a:moveTo>
                    <a:pt x="0" y="0"/>
                  </a:moveTo>
                  <a:lnTo>
                    <a:pt x="1488219" y="0"/>
                  </a:lnTo>
                  <a:lnTo>
                    <a:pt x="1488219" y="443121"/>
                  </a:lnTo>
                  <a:lnTo>
                    <a:pt x="0" y="443121"/>
                  </a:lnTo>
                  <a:close/>
                </a:path>
              </a:pathLst>
            </a:custGeom>
            <a:solidFill>
              <a:srgbClr val="000000">
                <a:alpha val="0"/>
              </a:srgbClr>
            </a:solidFill>
            <a:ln w="19050" cap="sq">
              <a:solidFill>
                <a:srgbClr val="004AAD"/>
              </a:solidFill>
              <a:prstDash val="solid"/>
              <a:miter/>
            </a:ln>
          </p:spPr>
        </p:sp>
        <p:sp>
          <p:nvSpPr>
            <p:cNvPr name="TextBox 4" id="4"/>
            <p:cNvSpPr txBox="true"/>
            <p:nvPr/>
          </p:nvSpPr>
          <p:spPr>
            <a:xfrm>
              <a:off x="0" y="-28575"/>
              <a:ext cx="1488219" cy="471696"/>
            </a:xfrm>
            <a:prstGeom prst="rect">
              <a:avLst/>
            </a:prstGeom>
          </p:spPr>
          <p:txBody>
            <a:bodyPr anchor="ctr" rtlCol="false" tIns="50800" lIns="50800" bIns="50800" rIns="50800"/>
            <a:lstStyle/>
            <a:p>
              <a:pPr algn="ctr">
                <a:lnSpc>
                  <a:spcPts val="1460"/>
                </a:lnSpc>
              </a:pPr>
            </a:p>
          </p:txBody>
        </p:sp>
      </p:grpSp>
      <p:sp>
        <p:nvSpPr>
          <p:cNvPr name="TextBox 5" id="5"/>
          <p:cNvSpPr txBox="true"/>
          <p:nvPr/>
        </p:nvSpPr>
        <p:spPr>
          <a:xfrm rot="0">
            <a:off x="2043514" y="1242647"/>
            <a:ext cx="5666572" cy="684819"/>
          </a:xfrm>
          <a:prstGeom prst="rect">
            <a:avLst/>
          </a:prstGeom>
        </p:spPr>
        <p:txBody>
          <a:bodyPr anchor="t" rtlCol="false" tIns="0" lIns="0" bIns="0" rIns="0">
            <a:spAutoFit/>
          </a:bodyPr>
          <a:lstStyle/>
          <a:p>
            <a:pPr algn="ctr">
              <a:lnSpc>
                <a:spcPts val="5304"/>
              </a:lnSpc>
            </a:pPr>
            <a:r>
              <a:rPr lang="en-US" b="true" sz="3788">
                <a:solidFill>
                  <a:srgbClr val="004AAD"/>
                </a:solidFill>
                <a:latin typeface="Poppins Bold"/>
                <a:ea typeface="Poppins Bold"/>
                <a:cs typeface="Poppins Bold"/>
                <a:sym typeface="Poppins Bold"/>
              </a:rPr>
              <a:t>METRICS</a:t>
            </a:r>
          </a:p>
        </p:txBody>
      </p:sp>
      <p:sp>
        <p:nvSpPr>
          <p:cNvPr name="TextBox 6" id="6"/>
          <p:cNvSpPr txBox="true"/>
          <p:nvPr/>
        </p:nvSpPr>
        <p:spPr>
          <a:xfrm rot="0">
            <a:off x="2835210" y="676934"/>
            <a:ext cx="4083180" cy="680013"/>
          </a:xfrm>
          <a:prstGeom prst="rect">
            <a:avLst/>
          </a:prstGeom>
        </p:spPr>
        <p:txBody>
          <a:bodyPr anchor="t" rtlCol="false" tIns="0" lIns="0" bIns="0" rIns="0">
            <a:spAutoFit/>
          </a:bodyPr>
          <a:lstStyle/>
          <a:p>
            <a:pPr algn="ctr">
              <a:lnSpc>
                <a:spcPts val="5361"/>
              </a:lnSpc>
            </a:pPr>
            <a:r>
              <a:rPr lang="en-US" b="true" sz="3829">
                <a:solidFill>
                  <a:srgbClr val="FF9F29"/>
                </a:solidFill>
                <a:latin typeface="Poppins Bold"/>
                <a:ea typeface="Poppins Bold"/>
                <a:cs typeface="Poppins Bold"/>
                <a:sym typeface="Poppins Bold"/>
              </a:rPr>
              <a:t>RESULTS AND</a:t>
            </a:r>
          </a:p>
        </p:txBody>
      </p:sp>
      <p:sp>
        <p:nvSpPr>
          <p:cNvPr name="TextBox 7" id="7"/>
          <p:cNvSpPr txBox="true"/>
          <p:nvPr/>
        </p:nvSpPr>
        <p:spPr>
          <a:xfrm rot="0">
            <a:off x="731520" y="2159305"/>
            <a:ext cx="8493054" cy="4530198"/>
          </a:xfrm>
          <a:prstGeom prst="rect">
            <a:avLst/>
          </a:prstGeom>
        </p:spPr>
        <p:txBody>
          <a:bodyPr anchor="t" rtlCol="false" tIns="0" lIns="0" bIns="0" rIns="0">
            <a:spAutoFit/>
          </a:bodyPr>
          <a:lstStyle/>
          <a:p>
            <a:pPr algn="l">
              <a:lnSpc>
                <a:spcPts val="2608"/>
              </a:lnSpc>
            </a:pPr>
            <a:r>
              <a:rPr lang="en-US" sz="1837" b="true">
                <a:solidFill>
                  <a:srgbClr val="000000"/>
                </a:solidFill>
                <a:latin typeface="Montserrat Bold"/>
                <a:ea typeface="Montserrat Bold"/>
                <a:cs typeface="Montserrat Bold"/>
                <a:sym typeface="Montserrat Bold"/>
              </a:rPr>
              <a:t>Performance</a:t>
            </a:r>
            <a:r>
              <a:rPr lang="en-US" b="true" sz="1837">
                <a:solidFill>
                  <a:srgbClr val="000000"/>
                </a:solidFill>
                <a:latin typeface="Montserrat Bold"/>
                <a:ea typeface="Montserrat Bold"/>
                <a:cs typeface="Montserrat Bold"/>
                <a:sym typeface="Montserrat Bold"/>
              </a:rPr>
              <a:t> Metrics</a:t>
            </a:r>
            <a:r>
              <a:rPr lang="en-US" sz="1837">
                <a:solidFill>
                  <a:srgbClr val="000000"/>
                </a:solidFill>
                <a:latin typeface="Montserrat"/>
                <a:ea typeface="Montserrat"/>
                <a:cs typeface="Montserrat"/>
                <a:sym typeface="Montserrat"/>
              </a:rPr>
              <a:t>:</a:t>
            </a:r>
          </a:p>
          <a:p>
            <a:pPr algn="l" marL="396621" indent="-198310" lvl="1">
              <a:lnSpc>
                <a:spcPts val="2608"/>
              </a:lnSpc>
              <a:buFont typeface="Arial"/>
              <a:buChar char="•"/>
            </a:pPr>
            <a:r>
              <a:rPr lang="en-US" b="true" sz="1837">
                <a:solidFill>
                  <a:srgbClr val="000000"/>
                </a:solidFill>
                <a:latin typeface="Montserrat Bold"/>
                <a:ea typeface="Montserrat Bold"/>
                <a:cs typeface="Montserrat Bold"/>
                <a:sym typeface="Montserrat Bold"/>
              </a:rPr>
              <a:t>PSNR</a:t>
            </a:r>
            <a:r>
              <a:rPr lang="en-US" b="true" sz="1837">
                <a:solidFill>
                  <a:srgbClr val="000000"/>
                </a:solidFill>
                <a:latin typeface="Montserrat Bold"/>
                <a:ea typeface="Montserrat Bold"/>
                <a:cs typeface="Montserrat Bold"/>
                <a:sym typeface="Montserrat Bold"/>
              </a:rPr>
              <a:t> (Original vs Embedded)</a:t>
            </a:r>
            <a:r>
              <a:rPr lang="en-US" sz="1837">
                <a:solidFill>
                  <a:srgbClr val="000000"/>
                </a:solidFill>
                <a:latin typeface="Montserrat"/>
                <a:ea typeface="Montserrat"/>
                <a:cs typeface="Montserrat"/>
                <a:sym typeface="Montserrat"/>
              </a:rPr>
              <a:t>: 17.37 dB</a:t>
            </a:r>
          </a:p>
          <a:p>
            <a:pPr algn="l" marL="396621" indent="-198310" lvl="1">
              <a:lnSpc>
                <a:spcPts val="2608"/>
              </a:lnSpc>
              <a:buFont typeface="Arial"/>
              <a:buChar char="•"/>
            </a:pPr>
            <a:r>
              <a:rPr lang="en-US" b="true" sz="1837">
                <a:solidFill>
                  <a:srgbClr val="000000"/>
                </a:solidFill>
                <a:latin typeface="Montserrat Bold"/>
                <a:ea typeface="Montserrat Bold"/>
                <a:cs typeface="Montserrat Bold"/>
                <a:sym typeface="Montserrat Bold"/>
              </a:rPr>
              <a:t>PSNR (Original vs Recov</a:t>
            </a:r>
            <a:r>
              <a:rPr lang="en-US" b="true" sz="1837">
                <a:solidFill>
                  <a:srgbClr val="000000"/>
                </a:solidFill>
                <a:latin typeface="Montserrat Bold"/>
                <a:ea typeface="Montserrat Bold"/>
                <a:cs typeface="Montserrat Bold"/>
                <a:sym typeface="Montserrat Bold"/>
              </a:rPr>
              <a:t>ered)</a:t>
            </a:r>
            <a:r>
              <a:rPr lang="en-US" sz="1837">
                <a:solidFill>
                  <a:srgbClr val="000000"/>
                </a:solidFill>
                <a:latin typeface="Montserrat"/>
                <a:ea typeface="Montserrat"/>
                <a:cs typeface="Montserrat"/>
                <a:sym typeface="Montserrat"/>
              </a:rPr>
              <a:t>:</a:t>
            </a:r>
            <a:r>
              <a:rPr lang="en-US" sz="1837">
                <a:solidFill>
                  <a:srgbClr val="000000"/>
                </a:solidFill>
                <a:latin typeface="Montserrat"/>
                <a:ea typeface="Montserrat"/>
                <a:cs typeface="Montserrat"/>
                <a:sym typeface="Montserrat"/>
              </a:rPr>
              <a:t> </a:t>
            </a:r>
            <a:r>
              <a:rPr lang="en-US" sz="1837">
                <a:solidFill>
                  <a:srgbClr val="000000"/>
                </a:solidFill>
                <a:latin typeface="Montserrat"/>
                <a:ea typeface="Montserrat"/>
                <a:cs typeface="Montserrat"/>
                <a:sym typeface="Montserrat"/>
              </a:rPr>
              <a:t>∞</a:t>
            </a:r>
            <a:r>
              <a:rPr lang="en-US" sz="1837">
                <a:solidFill>
                  <a:srgbClr val="000000"/>
                </a:solidFill>
                <a:latin typeface="Montserrat"/>
                <a:ea typeface="Montserrat"/>
                <a:cs typeface="Montserrat"/>
                <a:sym typeface="Montserrat"/>
              </a:rPr>
              <a:t> d</a:t>
            </a:r>
            <a:r>
              <a:rPr lang="en-US" sz="1837">
                <a:solidFill>
                  <a:srgbClr val="000000"/>
                </a:solidFill>
                <a:latin typeface="Montserrat"/>
                <a:ea typeface="Montserrat"/>
                <a:cs typeface="Montserrat"/>
                <a:sym typeface="Montserrat"/>
              </a:rPr>
              <a:t>B</a:t>
            </a:r>
          </a:p>
          <a:p>
            <a:pPr algn="l" marL="396621" indent="-198310" lvl="1">
              <a:lnSpc>
                <a:spcPts val="2608"/>
              </a:lnSpc>
              <a:buFont typeface="Arial"/>
              <a:buChar char="•"/>
            </a:pPr>
            <a:r>
              <a:rPr lang="en-US" b="true" sz="1837">
                <a:solidFill>
                  <a:srgbClr val="000000"/>
                </a:solidFill>
                <a:latin typeface="Montserrat Bold"/>
                <a:ea typeface="Montserrat Bold"/>
                <a:cs typeface="Montserrat Bold"/>
                <a:sym typeface="Montserrat Bold"/>
              </a:rPr>
              <a:t>SSIM (Original vs Embedded)</a:t>
            </a:r>
            <a:r>
              <a:rPr lang="en-US" sz="1837">
                <a:solidFill>
                  <a:srgbClr val="000000"/>
                </a:solidFill>
                <a:latin typeface="Montserrat"/>
                <a:ea typeface="Montserrat"/>
                <a:cs typeface="Montserrat"/>
                <a:sym typeface="Montserrat"/>
              </a:rPr>
              <a:t>: 0.9576</a:t>
            </a:r>
          </a:p>
          <a:p>
            <a:pPr algn="l" marL="396621" indent="-198310" lvl="1">
              <a:lnSpc>
                <a:spcPts val="2608"/>
              </a:lnSpc>
              <a:buFont typeface="Arial"/>
              <a:buChar char="•"/>
            </a:pPr>
            <a:r>
              <a:rPr lang="en-US" b="true" sz="1837">
                <a:solidFill>
                  <a:srgbClr val="000000"/>
                </a:solidFill>
                <a:latin typeface="Montserrat Bold"/>
                <a:ea typeface="Montserrat Bold"/>
                <a:cs typeface="Montserrat Bold"/>
                <a:sym typeface="Montserrat Bold"/>
              </a:rPr>
              <a:t>SSIM (Original vs Recovered)</a:t>
            </a:r>
            <a:r>
              <a:rPr lang="en-US" sz="1837">
                <a:solidFill>
                  <a:srgbClr val="000000"/>
                </a:solidFill>
                <a:latin typeface="Montserrat"/>
                <a:ea typeface="Montserrat"/>
                <a:cs typeface="Montserrat"/>
                <a:sym typeface="Montserrat"/>
              </a:rPr>
              <a:t>: 1.0000</a:t>
            </a:r>
          </a:p>
          <a:p>
            <a:pPr algn="l" marL="396621" indent="-198310" lvl="1">
              <a:lnSpc>
                <a:spcPts val="2608"/>
              </a:lnSpc>
              <a:buFont typeface="Arial"/>
              <a:buChar char="•"/>
            </a:pPr>
            <a:r>
              <a:rPr lang="en-US" b="true" sz="1837">
                <a:solidFill>
                  <a:srgbClr val="000000"/>
                </a:solidFill>
                <a:latin typeface="Montserrat Bold"/>
                <a:ea typeface="Montserrat Bold"/>
                <a:cs typeface="Montserrat Bold"/>
                <a:sym typeface="Montserrat Bold"/>
              </a:rPr>
              <a:t>Recovery Accuracy</a:t>
            </a:r>
            <a:r>
              <a:rPr lang="en-US" sz="1837">
                <a:solidFill>
                  <a:srgbClr val="000000"/>
                </a:solidFill>
                <a:latin typeface="Montserrat"/>
                <a:ea typeface="Montserrat"/>
                <a:cs typeface="Montserrat"/>
                <a:sym typeface="Montserrat"/>
              </a:rPr>
              <a:t>: 100% (0 pixel differences)</a:t>
            </a:r>
          </a:p>
          <a:p>
            <a:pPr algn="l" marL="396621" indent="-198310" lvl="1">
              <a:lnSpc>
                <a:spcPts val="2608"/>
              </a:lnSpc>
              <a:buFont typeface="Arial"/>
              <a:buChar char="•"/>
            </a:pPr>
            <a:r>
              <a:rPr lang="en-US" b="true" sz="1837">
                <a:solidFill>
                  <a:srgbClr val="000000"/>
                </a:solidFill>
                <a:latin typeface="Montserrat Bold"/>
                <a:ea typeface="Montserrat Bold"/>
                <a:cs typeface="Montserrat Bold"/>
                <a:sym typeface="Montserrat Bold"/>
              </a:rPr>
              <a:t>Embedding Capacity</a:t>
            </a:r>
            <a:r>
              <a:rPr lang="en-US" sz="1837">
                <a:solidFill>
                  <a:srgbClr val="000000"/>
                </a:solidFill>
                <a:latin typeface="Montserrat"/>
                <a:ea typeface="Montserrat"/>
                <a:cs typeface="Montserrat"/>
                <a:sym typeface="Montserrat"/>
              </a:rPr>
              <a:t>:</a:t>
            </a:r>
            <a:r>
              <a:rPr lang="en-US" sz="1837">
                <a:solidFill>
                  <a:srgbClr val="000000"/>
                </a:solidFill>
                <a:latin typeface="Montserrat"/>
                <a:ea typeface="Montserrat"/>
                <a:cs typeface="Montserrat"/>
                <a:sym typeface="Montserrat"/>
              </a:rPr>
              <a:t> </a:t>
            </a:r>
            <a:r>
              <a:rPr lang="en-US" sz="1837">
                <a:solidFill>
                  <a:srgbClr val="000000"/>
                </a:solidFill>
                <a:latin typeface="Montserrat"/>
                <a:ea typeface="Montserrat"/>
                <a:cs typeface="Montserrat"/>
                <a:sym typeface="Montserrat"/>
              </a:rPr>
              <a:t>80,000</a:t>
            </a:r>
            <a:r>
              <a:rPr lang="en-US" sz="1837">
                <a:solidFill>
                  <a:srgbClr val="000000"/>
                </a:solidFill>
                <a:latin typeface="Montserrat"/>
                <a:ea typeface="Montserrat"/>
                <a:cs typeface="Montserrat"/>
                <a:sym typeface="Montserrat"/>
              </a:rPr>
              <a:t> </a:t>
            </a:r>
            <a:r>
              <a:rPr lang="en-US" sz="1837">
                <a:solidFill>
                  <a:srgbClr val="000000"/>
                </a:solidFill>
                <a:latin typeface="Montserrat"/>
                <a:ea typeface="Montserrat"/>
                <a:cs typeface="Montserrat"/>
                <a:sym typeface="Montserrat"/>
              </a:rPr>
              <a:t>b</a:t>
            </a:r>
            <a:r>
              <a:rPr lang="en-US" sz="1837">
                <a:solidFill>
                  <a:srgbClr val="000000"/>
                </a:solidFill>
                <a:latin typeface="Montserrat"/>
                <a:ea typeface="Montserrat"/>
                <a:cs typeface="Montserrat"/>
                <a:sym typeface="Montserrat"/>
              </a:rPr>
              <a:t>its </a:t>
            </a:r>
            <a:r>
              <a:rPr lang="en-US" sz="1837">
                <a:solidFill>
                  <a:srgbClr val="000000"/>
                </a:solidFill>
                <a:latin typeface="Montserrat"/>
                <a:ea typeface="Montserrat"/>
                <a:cs typeface="Montserrat"/>
                <a:sym typeface="Montserrat"/>
              </a:rPr>
              <a:t>(≈9.77 KB) acro</a:t>
            </a:r>
            <a:r>
              <a:rPr lang="en-US" sz="1837">
                <a:solidFill>
                  <a:srgbClr val="000000"/>
                </a:solidFill>
                <a:latin typeface="Montserrat"/>
                <a:ea typeface="Montserrat"/>
                <a:cs typeface="Montserrat"/>
                <a:sym typeface="Montserrat"/>
              </a:rPr>
              <a:t>s</a:t>
            </a:r>
            <a:r>
              <a:rPr lang="en-US" sz="1837">
                <a:solidFill>
                  <a:srgbClr val="000000"/>
                </a:solidFill>
                <a:latin typeface="Montserrat"/>
                <a:ea typeface="Montserrat"/>
                <a:cs typeface="Montserrat"/>
                <a:sym typeface="Montserrat"/>
              </a:rPr>
              <a:t>s 1182 reg</a:t>
            </a:r>
            <a:r>
              <a:rPr lang="en-US" sz="1837">
                <a:solidFill>
                  <a:srgbClr val="000000"/>
                </a:solidFill>
                <a:latin typeface="Montserrat"/>
                <a:ea typeface="Montserrat"/>
                <a:cs typeface="Montserrat"/>
                <a:sym typeface="Montserrat"/>
              </a:rPr>
              <a:t>i</a:t>
            </a:r>
            <a:r>
              <a:rPr lang="en-US" sz="1837">
                <a:solidFill>
                  <a:srgbClr val="000000"/>
                </a:solidFill>
                <a:latin typeface="Montserrat"/>
                <a:ea typeface="Montserrat"/>
                <a:cs typeface="Montserrat"/>
                <a:sym typeface="Montserrat"/>
              </a:rPr>
              <a:t>o</a:t>
            </a:r>
            <a:r>
              <a:rPr lang="en-US" sz="1837">
                <a:solidFill>
                  <a:srgbClr val="000000"/>
                </a:solidFill>
                <a:latin typeface="Montserrat"/>
                <a:ea typeface="Montserrat"/>
                <a:cs typeface="Montserrat"/>
                <a:sym typeface="Montserrat"/>
              </a:rPr>
              <a:t>n</a:t>
            </a:r>
            <a:r>
              <a:rPr lang="en-US" sz="1837">
                <a:solidFill>
                  <a:srgbClr val="000000"/>
                </a:solidFill>
                <a:latin typeface="Montserrat"/>
                <a:ea typeface="Montserrat"/>
                <a:cs typeface="Montserrat"/>
                <a:sym typeface="Montserrat"/>
              </a:rPr>
              <a:t>s</a:t>
            </a:r>
          </a:p>
          <a:p>
            <a:pPr algn="l" marL="396621" indent="-198310" lvl="1">
              <a:lnSpc>
                <a:spcPts val="2608"/>
              </a:lnSpc>
              <a:buFont typeface="Arial"/>
              <a:buChar char="•"/>
            </a:pPr>
            <a:r>
              <a:rPr lang="en-US" b="true" sz="1837">
                <a:solidFill>
                  <a:srgbClr val="000000"/>
                </a:solidFill>
                <a:latin typeface="Montserrat Bold"/>
                <a:ea typeface="Montserrat Bold"/>
                <a:cs typeface="Montserrat Bold"/>
                <a:sym typeface="Montserrat Bold"/>
              </a:rPr>
              <a:t>QR Validity</a:t>
            </a:r>
            <a:r>
              <a:rPr lang="en-US" sz="1837">
                <a:solidFill>
                  <a:srgbClr val="000000"/>
                </a:solidFill>
                <a:latin typeface="Montserrat"/>
                <a:ea typeface="Montserrat"/>
                <a:cs typeface="Montserrat"/>
                <a:sym typeface="Montserrat"/>
              </a:rPr>
              <a:t>: Scannable and error-free</a:t>
            </a:r>
          </a:p>
          <a:p>
            <a:pPr algn="l">
              <a:lnSpc>
                <a:spcPts val="2608"/>
              </a:lnSpc>
            </a:pPr>
            <a:r>
              <a:rPr lang="en-US" b="true" sz="1837">
                <a:solidFill>
                  <a:srgbClr val="000000"/>
                </a:solidFill>
                <a:latin typeface="Montserrat Bold"/>
                <a:ea typeface="Montserrat Bold"/>
                <a:cs typeface="Montserrat Bold"/>
                <a:sym typeface="Montserrat Bold"/>
              </a:rPr>
              <a:t>Observation</a:t>
            </a:r>
            <a:r>
              <a:rPr lang="en-US" sz="1837">
                <a:solidFill>
                  <a:srgbClr val="000000"/>
                </a:solidFill>
                <a:latin typeface="Montserrat"/>
                <a:ea typeface="Montserrat"/>
                <a:cs typeface="Montserrat"/>
                <a:sym typeface="Montserrat"/>
              </a:rPr>
              <a:t>:</a:t>
            </a:r>
          </a:p>
          <a:p>
            <a:pPr algn="l">
              <a:lnSpc>
                <a:spcPts val="2608"/>
              </a:lnSpc>
            </a:pPr>
            <a:r>
              <a:rPr lang="en-US" sz="1837">
                <a:solidFill>
                  <a:srgbClr val="000000"/>
                </a:solidFill>
                <a:latin typeface="Montserrat"/>
                <a:ea typeface="Montserrat"/>
                <a:cs typeface="Montserrat"/>
                <a:sym typeface="Montserrat"/>
              </a:rPr>
              <a:t> The</a:t>
            </a:r>
            <a:r>
              <a:rPr lang="en-US" sz="1837">
                <a:solidFill>
                  <a:srgbClr val="000000"/>
                </a:solidFill>
                <a:latin typeface="Montserrat"/>
                <a:ea typeface="Montserrat"/>
                <a:cs typeface="Montserrat"/>
                <a:sym typeface="Montserrat"/>
              </a:rPr>
              <a:t> </a:t>
            </a:r>
            <a:r>
              <a:rPr lang="en-US" sz="1837">
                <a:solidFill>
                  <a:srgbClr val="000000"/>
                </a:solidFill>
                <a:latin typeface="Montserrat"/>
                <a:ea typeface="Montserrat"/>
                <a:cs typeface="Montserrat"/>
                <a:sym typeface="Montserrat"/>
              </a:rPr>
              <a:t>e</a:t>
            </a:r>
            <a:r>
              <a:rPr lang="en-US" sz="1837">
                <a:solidFill>
                  <a:srgbClr val="000000"/>
                </a:solidFill>
                <a:latin typeface="Montserrat"/>
                <a:ea typeface="Montserrat"/>
                <a:cs typeface="Montserrat"/>
                <a:sym typeface="Montserrat"/>
              </a:rPr>
              <a:t>mbedded </a:t>
            </a:r>
            <a:r>
              <a:rPr lang="en-US" sz="1837">
                <a:solidFill>
                  <a:srgbClr val="000000"/>
                </a:solidFill>
                <a:latin typeface="Montserrat"/>
                <a:ea typeface="Montserrat"/>
                <a:cs typeface="Montserrat"/>
                <a:sym typeface="Montserrat"/>
              </a:rPr>
              <a:t>i</a:t>
            </a:r>
            <a:r>
              <a:rPr lang="en-US" sz="1837">
                <a:solidFill>
                  <a:srgbClr val="000000"/>
                </a:solidFill>
                <a:latin typeface="Montserrat"/>
                <a:ea typeface="Montserrat"/>
                <a:cs typeface="Montserrat"/>
                <a:sym typeface="Montserrat"/>
              </a:rPr>
              <a:t>mage</a:t>
            </a:r>
            <a:r>
              <a:rPr lang="en-US" sz="1837">
                <a:solidFill>
                  <a:srgbClr val="000000"/>
                </a:solidFill>
                <a:latin typeface="Montserrat"/>
                <a:ea typeface="Montserrat"/>
                <a:cs typeface="Montserrat"/>
                <a:sym typeface="Montserrat"/>
              </a:rPr>
              <a:t> shows minimal visual distortion</a:t>
            </a:r>
            <a:r>
              <a:rPr lang="en-US" sz="1837">
                <a:solidFill>
                  <a:srgbClr val="000000"/>
                </a:solidFill>
                <a:latin typeface="Montserrat"/>
                <a:ea typeface="Montserrat"/>
                <a:cs typeface="Montserrat"/>
                <a:sym typeface="Montserrat"/>
              </a:rPr>
              <a:t> and </a:t>
            </a:r>
            <a:r>
              <a:rPr lang="en-US" sz="1837">
                <a:solidFill>
                  <a:srgbClr val="000000"/>
                </a:solidFill>
                <a:latin typeface="Montserrat"/>
                <a:ea typeface="Montserrat"/>
                <a:cs typeface="Montserrat"/>
                <a:sym typeface="Montserrat"/>
              </a:rPr>
              <a:t>the r</a:t>
            </a:r>
            <a:r>
              <a:rPr lang="en-US" sz="1837">
                <a:solidFill>
                  <a:srgbClr val="000000"/>
                </a:solidFill>
                <a:latin typeface="Montserrat"/>
                <a:ea typeface="Montserrat"/>
                <a:cs typeface="Montserrat"/>
                <a:sym typeface="Montserrat"/>
              </a:rPr>
              <a:t>ecove</a:t>
            </a:r>
            <a:r>
              <a:rPr lang="en-US" sz="1837">
                <a:solidFill>
                  <a:srgbClr val="000000"/>
                </a:solidFill>
                <a:latin typeface="Montserrat"/>
                <a:ea typeface="Montserrat"/>
                <a:cs typeface="Montserrat"/>
                <a:sym typeface="Montserrat"/>
              </a:rPr>
              <a:t>red image matches the original pixel-by-pixel. Ev</a:t>
            </a:r>
            <a:r>
              <a:rPr lang="en-US" sz="1837">
                <a:solidFill>
                  <a:srgbClr val="000000"/>
                </a:solidFill>
                <a:latin typeface="Montserrat"/>
                <a:ea typeface="Montserrat"/>
                <a:cs typeface="Montserrat"/>
                <a:sym typeface="Montserrat"/>
              </a:rPr>
              <a:t>e</a:t>
            </a:r>
            <a:r>
              <a:rPr lang="en-US" sz="1837">
                <a:solidFill>
                  <a:srgbClr val="000000"/>
                </a:solidFill>
                <a:latin typeface="Montserrat"/>
                <a:ea typeface="Montserrat"/>
                <a:cs typeface="Montserrat"/>
                <a:sym typeface="Montserrat"/>
              </a:rPr>
              <a:t>n</a:t>
            </a:r>
            <a:r>
              <a:rPr lang="en-US" sz="1837">
                <a:solidFill>
                  <a:srgbClr val="000000"/>
                </a:solidFill>
                <a:latin typeface="Montserrat"/>
                <a:ea typeface="Montserrat"/>
                <a:cs typeface="Montserrat"/>
                <a:sym typeface="Montserrat"/>
              </a:rPr>
              <a:t> </a:t>
            </a:r>
            <a:r>
              <a:rPr lang="en-US" sz="1837">
                <a:solidFill>
                  <a:srgbClr val="000000"/>
                </a:solidFill>
                <a:latin typeface="Montserrat"/>
                <a:ea typeface="Montserrat"/>
                <a:cs typeface="Montserrat"/>
                <a:sym typeface="Montserrat"/>
              </a:rPr>
              <a:t>in</a:t>
            </a:r>
            <a:r>
              <a:rPr lang="en-US" sz="1837">
                <a:solidFill>
                  <a:srgbClr val="000000"/>
                </a:solidFill>
                <a:latin typeface="Montserrat"/>
                <a:ea typeface="Montserrat"/>
                <a:cs typeface="Montserrat"/>
                <a:sym typeface="Montserrat"/>
              </a:rPr>
              <a:t> </a:t>
            </a:r>
            <a:r>
              <a:rPr lang="en-US" sz="1837">
                <a:solidFill>
                  <a:srgbClr val="000000"/>
                </a:solidFill>
                <a:latin typeface="Montserrat"/>
                <a:ea typeface="Montserrat"/>
                <a:cs typeface="Montserrat"/>
                <a:sym typeface="Montserrat"/>
              </a:rPr>
              <a:t>high-</a:t>
            </a:r>
            <a:r>
              <a:rPr lang="en-US" sz="1837">
                <a:solidFill>
                  <a:srgbClr val="000000"/>
                </a:solidFill>
                <a:latin typeface="Montserrat"/>
                <a:ea typeface="Montserrat"/>
                <a:cs typeface="Montserrat"/>
                <a:sym typeface="Montserrat"/>
              </a:rPr>
              <a:t>de</a:t>
            </a:r>
            <a:r>
              <a:rPr lang="en-US" sz="1837">
                <a:solidFill>
                  <a:srgbClr val="000000"/>
                </a:solidFill>
                <a:latin typeface="Montserrat"/>
                <a:ea typeface="Montserrat"/>
                <a:cs typeface="Montserrat"/>
                <a:sym typeface="Montserrat"/>
              </a:rPr>
              <a:t>tail images such as medical scans, the visual clarity and diagnostic quality are retained.</a:t>
            </a:r>
          </a:p>
          <a:p>
            <a:pPr algn="l">
              <a:lnSpc>
                <a:spcPts val="2608"/>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AEDED"/>
        </a:solidFill>
      </p:bgPr>
    </p:bg>
    <p:spTree>
      <p:nvGrpSpPr>
        <p:cNvPr id="1" name=""/>
        <p:cNvGrpSpPr/>
        <p:nvPr/>
      </p:nvGrpSpPr>
      <p:grpSpPr>
        <a:xfrm>
          <a:off x="0" y="0"/>
          <a:ext cx="0" cy="0"/>
          <a:chOff x="0" y="0"/>
          <a:chExt cx="0" cy="0"/>
        </a:xfrm>
      </p:grpSpPr>
      <p:grpSp>
        <p:nvGrpSpPr>
          <p:cNvPr name="Group 2" id="2"/>
          <p:cNvGrpSpPr/>
          <p:nvPr/>
        </p:nvGrpSpPr>
        <p:grpSpPr>
          <a:xfrm rot="0">
            <a:off x="401047" y="443901"/>
            <a:ext cx="3472143" cy="824885"/>
            <a:chOff x="0" y="0"/>
            <a:chExt cx="1183895" cy="281261"/>
          </a:xfrm>
        </p:grpSpPr>
        <p:sp>
          <p:nvSpPr>
            <p:cNvPr name="Freeform 3" id="3"/>
            <p:cNvSpPr/>
            <p:nvPr/>
          </p:nvSpPr>
          <p:spPr>
            <a:xfrm flipH="false" flipV="false" rot="0">
              <a:off x="0" y="0"/>
              <a:ext cx="1183895" cy="281261"/>
            </a:xfrm>
            <a:custGeom>
              <a:avLst/>
              <a:gdLst/>
              <a:ahLst/>
              <a:cxnLst/>
              <a:rect r="r" b="b" t="t" l="l"/>
              <a:pathLst>
                <a:path h="281261" w="1183895">
                  <a:moveTo>
                    <a:pt x="0" y="0"/>
                  </a:moveTo>
                  <a:lnTo>
                    <a:pt x="1183895" y="0"/>
                  </a:lnTo>
                  <a:lnTo>
                    <a:pt x="1183895" y="281261"/>
                  </a:lnTo>
                  <a:lnTo>
                    <a:pt x="0" y="281261"/>
                  </a:lnTo>
                  <a:close/>
                </a:path>
              </a:pathLst>
            </a:custGeom>
            <a:solidFill>
              <a:srgbClr val="000000">
                <a:alpha val="0"/>
              </a:srgbClr>
            </a:solidFill>
            <a:ln w="19050" cap="sq">
              <a:solidFill>
                <a:srgbClr val="004AAD"/>
              </a:solidFill>
              <a:prstDash val="solid"/>
              <a:miter/>
            </a:ln>
          </p:spPr>
        </p:sp>
        <p:sp>
          <p:nvSpPr>
            <p:cNvPr name="TextBox 4" id="4"/>
            <p:cNvSpPr txBox="true"/>
            <p:nvPr/>
          </p:nvSpPr>
          <p:spPr>
            <a:xfrm>
              <a:off x="0" y="-28575"/>
              <a:ext cx="1183895" cy="309836"/>
            </a:xfrm>
            <a:prstGeom prst="rect">
              <a:avLst/>
            </a:prstGeom>
          </p:spPr>
          <p:txBody>
            <a:bodyPr anchor="ctr" rtlCol="false" tIns="50800" lIns="50800" bIns="50800" rIns="50800"/>
            <a:lstStyle/>
            <a:p>
              <a:pPr algn="ctr">
                <a:lnSpc>
                  <a:spcPts val="1460"/>
                </a:lnSpc>
              </a:pPr>
            </a:p>
          </p:txBody>
        </p:sp>
      </p:grpSp>
      <p:sp>
        <p:nvSpPr>
          <p:cNvPr name="Freeform 5" id="5"/>
          <p:cNvSpPr/>
          <p:nvPr/>
        </p:nvSpPr>
        <p:spPr>
          <a:xfrm flipH="false" flipV="false" rot="0">
            <a:off x="1895217" y="1426403"/>
            <a:ext cx="5963165" cy="3987867"/>
          </a:xfrm>
          <a:custGeom>
            <a:avLst/>
            <a:gdLst/>
            <a:ahLst/>
            <a:cxnLst/>
            <a:rect r="r" b="b" t="t" l="l"/>
            <a:pathLst>
              <a:path h="3987867" w="5963165">
                <a:moveTo>
                  <a:pt x="0" y="0"/>
                </a:moveTo>
                <a:lnTo>
                  <a:pt x="5963166" y="0"/>
                </a:lnTo>
                <a:lnTo>
                  <a:pt x="5963166" y="3987867"/>
                </a:lnTo>
                <a:lnTo>
                  <a:pt x="0" y="3987867"/>
                </a:lnTo>
                <a:lnTo>
                  <a:pt x="0" y="0"/>
                </a:lnTo>
                <a:close/>
              </a:path>
            </a:pathLst>
          </a:custGeom>
          <a:blipFill>
            <a:blip r:embed="rId2"/>
            <a:stretch>
              <a:fillRect l="0" t="0" r="0" b="0"/>
            </a:stretch>
          </a:blipFill>
        </p:spPr>
      </p:sp>
      <p:sp>
        <p:nvSpPr>
          <p:cNvPr name="TextBox 6" id="6"/>
          <p:cNvSpPr txBox="true"/>
          <p:nvPr/>
        </p:nvSpPr>
        <p:spPr>
          <a:xfrm rot="0">
            <a:off x="266151" y="780717"/>
            <a:ext cx="3741935" cy="452944"/>
          </a:xfrm>
          <a:prstGeom prst="rect">
            <a:avLst/>
          </a:prstGeom>
        </p:spPr>
        <p:txBody>
          <a:bodyPr anchor="t" rtlCol="false" tIns="0" lIns="0" bIns="0" rIns="0">
            <a:spAutoFit/>
          </a:bodyPr>
          <a:lstStyle/>
          <a:p>
            <a:pPr algn="ctr">
              <a:lnSpc>
                <a:spcPts val="3502"/>
              </a:lnSpc>
            </a:pPr>
            <a:r>
              <a:rPr lang="en-US" b="true" sz="2501">
                <a:solidFill>
                  <a:srgbClr val="004AAD"/>
                </a:solidFill>
                <a:latin typeface="Poppins Bold"/>
                <a:ea typeface="Poppins Bold"/>
                <a:cs typeface="Poppins Bold"/>
                <a:sym typeface="Poppins Bold"/>
              </a:rPr>
              <a:t> </a:t>
            </a:r>
            <a:r>
              <a:rPr lang="en-US" b="true" sz="2501">
                <a:solidFill>
                  <a:srgbClr val="004AAD"/>
                </a:solidFill>
                <a:latin typeface="Poppins Bold"/>
                <a:ea typeface="Poppins Bold"/>
                <a:cs typeface="Poppins Bold"/>
                <a:sym typeface="Poppins Bold"/>
              </a:rPr>
              <a:t>and c</a:t>
            </a:r>
            <a:r>
              <a:rPr lang="en-US" b="true" sz="2501">
                <a:solidFill>
                  <a:srgbClr val="004AAD"/>
                </a:solidFill>
                <a:latin typeface="Poppins Bold"/>
                <a:ea typeface="Poppins Bold"/>
                <a:cs typeface="Poppins Bold"/>
                <a:sym typeface="Poppins Bold"/>
              </a:rPr>
              <a:t>ONCLUSION</a:t>
            </a:r>
          </a:p>
        </p:txBody>
      </p:sp>
      <p:sp>
        <p:nvSpPr>
          <p:cNvPr name="TextBox 7" id="7"/>
          <p:cNvSpPr txBox="true"/>
          <p:nvPr/>
        </p:nvSpPr>
        <p:spPr>
          <a:xfrm rot="0">
            <a:off x="813933" y="358176"/>
            <a:ext cx="2376579" cy="498741"/>
          </a:xfrm>
          <a:prstGeom prst="rect">
            <a:avLst/>
          </a:prstGeom>
        </p:spPr>
        <p:txBody>
          <a:bodyPr anchor="t" rtlCol="false" tIns="0" lIns="0" bIns="0" rIns="0">
            <a:spAutoFit/>
          </a:bodyPr>
          <a:lstStyle/>
          <a:p>
            <a:pPr algn="ctr">
              <a:lnSpc>
                <a:spcPts val="3849"/>
              </a:lnSpc>
            </a:pPr>
            <a:r>
              <a:rPr lang="en-US" b="true" sz="2749">
                <a:solidFill>
                  <a:srgbClr val="FF9F29"/>
                </a:solidFill>
                <a:latin typeface="Poppins Bold"/>
                <a:ea typeface="Poppins Bold"/>
                <a:cs typeface="Poppins Bold"/>
                <a:sym typeface="Poppins Bold"/>
              </a:rPr>
              <a:t>KEY RESULTS</a:t>
            </a:r>
          </a:p>
        </p:txBody>
      </p:sp>
      <p:sp>
        <p:nvSpPr>
          <p:cNvPr name="TextBox 8" id="8"/>
          <p:cNvSpPr txBox="true"/>
          <p:nvPr/>
        </p:nvSpPr>
        <p:spPr>
          <a:xfrm rot="0">
            <a:off x="754969" y="5576195"/>
            <a:ext cx="8243663" cy="1643080"/>
          </a:xfrm>
          <a:prstGeom prst="rect">
            <a:avLst/>
          </a:prstGeom>
        </p:spPr>
        <p:txBody>
          <a:bodyPr anchor="t" rtlCol="false" tIns="0" lIns="0" bIns="0" rIns="0">
            <a:spAutoFit/>
          </a:bodyPr>
          <a:lstStyle/>
          <a:p>
            <a:pPr algn="l" marL="242590" indent="-121295" lvl="1">
              <a:lnSpc>
                <a:spcPts val="1460"/>
              </a:lnSpc>
              <a:buFont typeface="Arial"/>
              <a:buChar char="•"/>
            </a:pPr>
            <a:r>
              <a:rPr lang="en-US" b="true" sz="1123" spc="78">
                <a:solidFill>
                  <a:srgbClr val="000000"/>
                </a:solidFill>
                <a:latin typeface="Poppins Bold"/>
                <a:ea typeface="Poppins Bold"/>
                <a:cs typeface="Poppins Bold"/>
                <a:sym typeface="Poppins Bold"/>
              </a:rPr>
              <a:t>THE PROPOSED REVERSIBLE QR-BASED SYSTEM ACHIEVES PERFECT RECOVERY WITH 100% ACCURACY AND 0 PIXEL LOSS.</a:t>
            </a:r>
          </a:p>
          <a:p>
            <a:pPr algn="l" marL="242590" indent="-121295" lvl="1">
              <a:lnSpc>
                <a:spcPts val="1460"/>
              </a:lnSpc>
              <a:buFont typeface="Arial"/>
              <a:buChar char="•"/>
            </a:pPr>
            <a:r>
              <a:rPr lang="en-US" b="true" sz="1123" spc="78">
                <a:solidFill>
                  <a:srgbClr val="000000"/>
                </a:solidFill>
                <a:latin typeface="Poppins Bold"/>
                <a:ea typeface="Poppins Bold"/>
                <a:cs typeface="Poppins Bold"/>
                <a:sym typeface="Poppins Bold"/>
              </a:rPr>
              <a:t>THE EMBEDDED IMAGE MAINTAINS PSNR = 17.37 DB AND SSIM = 0.9576, SHOWING MINIMAL VISUAL DISTORTION.</a:t>
            </a:r>
          </a:p>
          <a:p>
            <a:pPr algn="l" marL="242590" indent="-121295" lvl="1">
              <a:lnSpc>
                <a:spcPts val="1460"/>
              </a:lnSpc>
              <a:buFont typeface="Arial"/>
              <a:buChar char="•"/>
            </a:pPr>
            <a:r>
              <a:rPr lang="en-US" b="true" sz="1123" spc="78">
                <a:solidFill>
                  <a:srgbClr val="000000"/>
                </a:solidFill>
                <a:latin typeface="Poppins Bold"/>
                <a:ea typeface="Poppins Bold"/>
                <a:cs typeface="Poppins Bold"/>
                <a:sym typeface="Poppins Bold"/>
              </a:rPr>
              <a:t>THE RECOVERED IMAGE ATTAINS INFINITE PSNR AND SSIM = 1.0000, CONFIRMING LOSSLESS RECONSTRUCTION.</a:t>
            </a:r>
          </a:p>
          <a:p>
            <a:pPr algn="l" marL="242590" indent="-121295" lvl="1">
              <a:lnSpc>
                <a:spcPts val="1460"/>
              </a:lnSpc>
              <a:buFont typeface="Arial"/>
              <a:buChar char="•"/>
            </a:pPr>
            <a:r>
              <a:rPr lang="en-US" b="true" sz="1123" spc="78">
                <a:solidFill>
                  <a:srgbClr val="000000"/>
                </a:solidFill>
                <a:latin typeface="Poppins Bold"/>
                <a:ea typeface="Poppins Bold"/>
                <a:cs typeface="Poppins Bold"/>
                <a:sym typeface="Poppins Bold"/>
              </a:rPr>
              <a:t>A PAYLOAD OF 80,000 BITS (≈9.77 KB) IS EMBEDDED ACROSS 1182 REGIONS, ENSURING HIGH CAPACITY AND STRONG VISUAL FIDELITY</a:t>
            </a:r>
            <a:r>
              <a:rPr lang="en-US" sz="1123" spc="78">
                <a:solidFill>
                  <a:srgbClr val="000000"/>
                </a:solidFill>
                <a:latin typeface="Poppins"/>
                <a:ea typeface="Poppins"/>
                <a:cs typeface="Poppins"/>
                <a:sym typeface="Poppins"/>
              </a:rPr>
              <a:t>.</a:t>
            </a:r>
          </a:p>
          <a:p>
            <a:pPr algn="l">
              <a:lnSpc>
                <a:spcPts val="146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AEDED"/>
        </a:solidFill>
      </p:bgPr>
    </p:bg>
    <p:spTree>
      <p:nvGrpSpPr>
        <p:cNvPr id="1" name=""/>
        <p:cNvGrpSpPr/>
        <p:nvPr/>
      </p:nvGrpSpPr>
      <p:grpSpPr>
        <a:xfrm>
          <a:off x="0" y="0"/>
          <a:ext cx="0" cy="0"/>
          <a:chOff x="0" y="0"/>
          <a:chExt cx="0" cy="0"/>
        </a:xfrm>
      </p:grpSpPr>
      <p:grpSp>
        <p:nvGrpSpPr>
          <p:cNvPr name="Group 2" id="2"/>
          <p:cNvGrpSpPr/>
          <p:nvPr/>
        </p:nvGrpSpPr>
        <p:grpSpPr>
          <a:xfrm rot="0">
            <a:off x="266151" y="268749"/>
            <a:ext cx="3332000" cy="926190"/>
            <a:chOff x="0" y="0"/>
            <a:chExt cx="1136110" cy="315803"/>
          </a:xfrm>
        </p:grpSpPr>
        <p:sp>
          <p:nvSpPr>
            <p:cNvPr name="Freeform 3" id="3"/>
            <p:cNvSpPr/>
            <p:nvPr/>
          </p:nvSpPr>
          <p:spPr>
            <a:xfrm flipH="false" flipV="false" rot="0">
              <a:off x="0" y="0"/>
              <a:ext cx="1136110" cy="315803"/>
            </a:xfrm>
            <a:custGeom>
              <a:avLst/>
              <a:gdLst/>
              <a:ahLst/>
              <a:cxnLst/>
              <a:rect r="r" b="b" t="t" l="l"/>
              <a:pathLst>
                <a:path h="315803" w="1136110">
                  <a:moveTo>
                    <a:pt x="0" y="0"/>
                  </a:moveTo>
                  <a:lnTo>
                    <a:pt x="1136110" y="0"/>
                  </a:lnTo>
                  <a:lnTo>
                    <a:pt x="1136110" y="315803"/>
                  </a:lnTo>
                  <a:lnTo>
                    <a:pt x="0" y="315803"/>
                  </a:lnTo>
                  <a:close/>
                </a:path>
              </a:pathLst>
            </a:custGeom>
            <a:solidFill>
              <a:srgbClr val="000000">
                <a:alpha val="0"/>
              </a:srgbClr>
            </a:solidFill>
            <a:ln w="19050" cap="sq">
              <a:solidFill>
                <a:srgbClr val="004AAD"/>
              </a:solidFill>
              <a:prstDash val="solid"/>
              <a:miter/>
            </a:ln>
          </p:spPr>
        </p:sp>
        <p:sp>
          <p:nvSpPr>
            <p:cNvPr name="TextBox 4" id="4"/>
            <p:cNvSpPr txBox="true"/>
            <p:nvPr/>
          </p:nvSpPr>
          <p:spPr>
            <a:xfrm>
              <a:off x="0" y="-28575"/>
              <a:ext cx="1136110" cy="344378"/>
            </a:xfrm>
            <a:prstGeom prst="rect">
              <a:avLst/>
            </a:prstGeom>
          </p:spPr>
          <p:txBody>
            <a:bodyPr anchor="ctr" rtlCol="false" tIns="50800" lIns="50800" bIns="50800" rIns="50800"/>
            <a:lstStyle/>
            <a:p>
              <a:pPr algn="ctr">
                <a:lnSpc>
                  <a:spcPts val="1460"/>
                </a:lnSpc>
              </a:pPr>
            </a:p>
          </p:txBody>
        </p:sp>
      </p:grpSp>
      <p:sp>
        <p:nvSpPr>
          <p:cNvPr name="Freeform 5" id="5"/>
          <p:cNvSpPr/>
          <p:nvPr/>
        </p:nvSpPr>
        <p:spPr>
          <a:xfrm flipH="false" flipV="false" rot="0">
            <a:off x="2390987" y="2058547"/>
            <a:ext cx="4782216" cy="3198107"/>
          </a:xfrm>
          <a:custGeom>
            <a:avLst/>
            <a:gdLst/>
            <a:ahLst/>
            <a:cxnLst/>
            <a:rect r="r" b="b" t="t" l="l"/>
            <a:pathLst>
              <a:path h="3198107" w="4782216">
                <a:moveTo>
                  <a:pt x="0" y="0"/>
                </a:moveTo>
                <a:lnTo>
                  <a:pt x="4782216" y="0"/>
                </a:lnTo>
                <a:lnTo>
                  <a:pt x="4782216" y="3198106"/>
                </a:lnTo>
                <a:lnTo>
                  <a:pt x="0" y="3198106"/>
                </a:lnTo>
                <a:lnTo>
                  <a:pt x="0" y="0"/>
                </a:lnTo>
                <a:close/>
              </a:path>
            </a:pathLst>
          </a:custGeom>
          <a:blipFill>
            <a:blip r:embed="rId2"/>
            <a:stretch>
              <a:fillRect l="0" t="0" r="0" b="0"/>
            </a:stretch>
          </a:blipFill>
        </p:spPr>
      </p:sp>
      <p:sp>
        <p:nvSpPr>
          <p:cNvPr name="Freeform 6" id="6"/>
          <p:cNvSpPr/>
          <p:nvPr/>
        </p:nvSpPr>
        <p:spPr>
          <a:xfrm flipH="false" flipV="false" rot="0">
            <a:off x="992377" y="1347340"/>
            <a:ext cx="7768845" cy="4000955"/>
          </a:xfrm>
          <a:custGeom>
            <a:avLst/>
            <a:gdLst/>
            <a:ahLst/>
            <a:cxnLst/>
            <a:rect r="r" b="b" t="t" l="l"/>
            <a:pathLst>
              <a:path h="4000955" w="7768845">
                <a:moveTo>
                  <a:pt x="0" y="0"/>
                </a:moveTo>
                <a:lnTo>
                  <a:pt x="7768846" y="0"/>
                </a:lnTo>
                <a:lnTo>
                  <a:pt x="7768846" y="4000955"/>
                </a:lnTo>
                <a:lnTo>
                  <a:pt x="0" y="4000955"/>
                </a:lnTo>
                <a:lnTo>
                  <a:pt x="0" y="0"/>
                </a:lnTo>
                <a:close/>
              </a:path>
            </a:pathLst>
          </a:custGeom>
          <a:blipFill>
            <a:blip r:embed="rId3"/>
            <a:stretch>
              <a:fillRect l="0" t="0" r="0" b="0"/>
            </a:stretch>
          </a:blipFill>
        </p:spPr>
      </p:sp>
      <p:sp>
        <p:nvSpPr>
          <p:cNvPr name="TextBox 7" id="7"/>
          <p:cNvSpPr txBox="true"/>
          <p:nvPr/>
        </p:nvSpPr>
        <p:spPr>
          <a:xfrm rot="0">
            <a:off x="266151" y="697544"/>
            <a:ext cx="3332000" cy="402146"/>
          </a:xfrm>
          <a:prstGeom prst="rect">
            <a:avLst/>
          </a:prstGeom>
        </p:spPr>
        <p:txBody>
          <a:bodyPr anchor="t" rtlCol="false" tIns="0" lIns="0" bIns="0" rIns="0">
            <a:spAutoFit/>
          </a:bodyPr>
          <a:lstStyle/>
          <a:p>
            <a:pPr algn="ctr">
              <a:lnSpc>
                <a:spcPts val="3118"/>
              </a:lnSpc>
            </a:pPr>
            <a:r>
              <a:rPr lang="en-US" b="true" sz="2227">
                <a:solidFill>
                  <a:srgbClr val="004AAD"/>
                </a:solidFill>
                <a:latin typeface="Poppins Bold"/>
                <a:ea typeface="Poppins Bold"/>
                <a:cs typeface="Poppins Bold"/>
                <a:sym typeface="Poppins Bold"/>
              </a:rPr>
              <a:t> </a:t>
            </a:r>
            <a:r>
              <a:rPr lang="en-US" b="true" sz="2227">
                <a:solidFill>
                  <a:srgbClr val="004AAD"/>
                </a:solidFill>
                <a:latin typeface="Poppins Bold"/>
                <a:ea typeface="Poppins Bold"/>
                <a:cs typeface="Poppins Bold"/>
                <a:sym typeface="Poppins Bold"/>
              </a:rPr>
              <a:t>and c</a:t>
            </a:r>
            <a:r>
              <a:rPr lang="en-US" b="true" sz="2227">
                <a:solidFill>
                  <a:srgbClr val="004AAD"/>
                </a:solidFill>
                <a:latin typeface="Poppins Bold"/>
                <a:ea typeface="Poppins Bold"/>
                <a:cs typeface="Poppins Bold"/>
                <a:sym typeface="Poppins Bold"/>
              </a:rPr>
              <a:t>ONCLUSION</a:t>
            </a:r>
          </a:p>
        </p:txBody>
      </p:sp>
      <p:sp>
        <p:nvSpPr>
          <p:cNvPr name="TextBox 8" id="8"/>
          <p:cNvSpPr txBox="true"/>
          <p:nvPr/>
        </p:nvSpPr>
        <p:spPr>
          <a:xfrm rot="0">
            <a:off x="892253" y="303406"/>
            <a:ext cx="2079796" cy="428114"/>
          </a:xfrm>
          <a:prstGeom prst="rect">
            <a:avLst/>
          </a:prstGeom>
        </p:spPr>
        <p:txBody>
          <a:bodyPr anchor="t" rtlCol="false" tIns="0" lIns="0" bIns="0" rIns="0">
            <a:spAutoFit/>
          </a:bodyPr>
          <a:lstStyle/>
          <a:p>
            <a:pPr algn="ctr">
              <a:lnSpc>
                <a:spcPts val="3368"/>
              </a:lnSpc>
            </a:pPr>
            <a:r>
              <a:rPr lang="en-US" b="true" sz="2406">
                <a:solidFill>
                  <a:srgbClr val="FF9F29"/>
                </a:solidFill>
                <a:latin typeface="Poppins Bold"/>
                <a:ea typeface="Poppins Bold"/>
                <a:cs typeface="Poppins Bold"/>
                <a:sym typeface="Poppins Bold"/>
              </a:rPr>
              <a:t>KEY RESULTS</a:t>
            </a:r>
          </a:p>
        </p:txBody>
      </p:sp>
      <p:sp>
        <p:nvSpPr>
          <p:cNvPr name="TextBox 9" id="9"/>
          <p:cNvSpPr txBox="true"/>
          <p:nvPr/>
        </p:nvSpPr>
        <p:spPr>
          <a:xfrm rot="0">
            <a:off x="271055" y="5472120"/>
            <a:ext cx="9022080" cy="1462105"/>
          </a:xfrm>
          <a:prstGeom prst="rect">
            <a:avLst/>
          </a:prstGeom>
        </p:spPr>
        <p:txBody>
          <a:bodyPr anchor="t" rtlCol="false" tIns="0" lIns="0" bIns="0" rIns="0">
            <a:spAutoFit/>
          </a:bodyPr>
          <a:lstStyle/>
          <a:p>
            <a:pPr algn="l" marL="242590" indent="-121295" lvl="1">
              <a:lnSpc>
                <a:spcPts val="1460"/>
              </a:lnSpc>
              <a:buFont typeface="Arial"/>
              <a:buChar char="•"/>
            </a:pPr>
            <a:r>
              <a:rPr lang="en-US" b="true" sz="1123" spc="74">
                <a:solidFill>
                  <a:srgbClr val="000000"/>
                </a:solidFill>
                <a:latin typeface="Poppins Bold"/>
                <a:ea typeface="Poppins Bold"/>
                <a:cs typeface="Poppins Bold"/>
                <a:sym typeface="Poppins Bold"/>
              </a:rPr>
              <a:t>A</a:t>
            </a:r>
            <a:r>
              <a:rPr lang="en-US" b="true" sz="1123" spc="74">
                <a:solidFill>
                  <a:srgbClr val="000000"/>
                </a:solidFill>
                <a:latin typeface="Poppins Bold"/>
                <a:ea typeface="Poppins Bold"/>
                <a:cs typeface="Poppins Bold"/>
                <a:sym typeface="Poppins Bold"/>
              </a:rPr>
              <a:t>S THE QR SIZE INCREASES, THE EMBEDDED REGION BECOMES MORE VISUALLY DOMINANT, OCCUPYING A LARGER PORTION OF THE IMAGE.</a:t>
            </a:r>
          </a:p>
          <a:p>
            <a:pPr algn="l" marL="242590" indent="-121295" lvl="1">
              <a:lnSpc>
                <a:spcPts val="1460"/>
              </a:lnSpc>
              <a:buFont typeface="Arial"/>
              <a:buChar char="•"/>
            </a:pPr>
            <a:r>
              <a:rPr lang="en-US" b="true" sz="1123" spc="74">
                <a:solidFill>
                  <a:srgbClr val="000000"/>
                </a:solidFill>
                <a:latin typeface="Poppins Bold"/>
                <a:ea typeface="Poppins Bold"/>
                <a:cs typeface="Poppins Bold"/>
                <a:sym typeface="Poppins Bold"/>
              </a:rPr>
              <a:t>THE CORRESPONDING PSNR DECREASES STEADILY, CONFIRMING INCREASED EMBEDDING DISTORTION WITH HIGHER PAYLOADS.</a:t>
            </a:r>
          </a:p>
          <a:p>
            <a:pPr algn="l" marL="242590" indent="-121295" lvl="1">
              <a:lnSpc>
                <a:spcPts val="1460"/>
              </a:lnSpc>
              <a:buFont typeface="Arial"/>
              <a:buChar char="•"/>
            </a:pPr>
            <a:r>
              <a:rPr lang="en-US" b="true" sz="1123" spc="74">
                <a:solidFill>
                  <a:srgbClr val="000000"/>
                </a:solidFill>
                <a:latin typeface="Poppins Bold"/>
                <a:ea typeface="Poppins Bold"/>
                <a:cs typeface="Poppins Bold"/>
                <a:sym typeface="Poppins Bold"/>
              </a:rPr>
              <a:t>DESPITE THE LARGER QR INSERTIONS, STRUCTURAL DETAILS OF THE MEDICAL IMAGE REMAIN CLEARLY VISIBLE, PRESERVING DIAGNOSTIC USABILITY.</a:t>
            </a:r>
          </a:p>
          <a:p>
            <a:pPr algn="l" marL="242590" indent="-121295" lvl="1">
              <a:lnSpc>
                <a:spcPts val="1460"/>
              </a:lnSpc>
              <a:buFont typeface="Arial"/>
              <a:buChar char="•"/>
            </a:pPr>
            <a:r>
              <a:rPr lang="en-US" b="true" sz="1123" spc="74">
                <a:solidFill>
                  <a:srgbClr val="000000"/>
                </a:solidFill>
                <a:latin typeface="Poppins Bold"/>
                <a:ea typeface="Poppins Bold"/>
                <a:cs typeface="Poppins Bold"/>
                <a:sym typeface="Poppins Bold"/>
              </a:rPr>
              <a:t>THIS DEMONSTRATES A CLEAR TRADE-OFF BETWEEN EMBEDDING CAPACITY AND VISUAL QUALITY IN THE REVERSIBLE EMBEDDING PROCESS.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AEDED"/>
        </a:solidFill>
      </p:bgPr>
    </p:bg>
    <p:spTree>
      <p:nvGrpSpPr>
        <p:cNvPr id="1" name=""/>
        <p:cNvGrpSpPr/>
        <p:nvPr/>
      </p:nvGrpSpPr>
      <p:grpSpPr>
        <a:xfrm>
          <a:off x="0" y="0"/>
          <a:ext cx="0" cy="0"/>
          <a:chOff x="0" y="0"/>
          <a:chExt cx="0" cy="0"/>
        </a:xfrm>
      </p:grpSpPr>
      <p:grpSp>
        <p:nvGrpSpPr>
          <p:cNvPr name="Group 2" id="2"/>
          <p:cNvGrpSpPr/>
          <p:nvPr/>
        </p:nvGrpSpPr>
        <p:grpSpPr>
          <a:xfrm rot="0">
            <a:off x="266151" y="373524"/>
            <a:ext cx="3332000" cy="926190"/>
            <a:chOff x="0" y="0"/>
            <a:chExt cx="1136110" cy="315803"/>
          </a:xfrm>
        </p:grpSpPr>
        <p:sp>
          <p:nvSpPr>
            <p:cNvPr name="Freeform 3" id="3"/>
            <p:cNvSpPr/>
            <p:nvPr/>
          </p:nvSpPr>
          <p:spPr>
            <a:xfrm flipH="false" flipV="false" rot="0">
              <a:off x="0" y="0"/>
              <a:ext cx="1136110" cy="315803"/>
            </a:xfrm>
            <a:custGeom>
              <a:avLst/>
              <a:gdLst/>
              <a:ahLst/>
              <a:cxnLst/>
              <a:rect r="r" b="b" t="t" l="l"/>
              <a:pathLst>
                <a:path h="315803" w="1136110">
                  <a:moveTo>
                    <a:pt x="0" y="0"/>
                  </a:moveTo>
                  <a:lnTo>
                    <a:pt x="1136110" y="0"/>
                  </a:lnTo>
                  <a:lnTo>
                    <a:pt x="1136110" y="315803"/>
                  </a:lnTo>
                  <a:lnTo>
                    <a:pt x="0" y="315803"/>
                  </a:lnTo>
                  <a:close/>
                </a:path>
              </a:pathLst>
            </a:custGeom>
            <a:solidFill>
              <a:srgbClr val="000000">
                <a:alpha val="0"/>
              </a:srgbClr>
            </a:solidFill>
            <a:ln w="19050" cap="sq">
              <a:solidFill>
                <a:srgbClr val="004AAD"/>
              </a:solidFill>
              <a:prstDash val="solid"/>
              <a:miter/>
            </a:ln>
          </p:spPr>
        </p:sp>
        <p:sp>
          <p:nvSpPr>
            <p:cNvPr name="TextBox 4" id="4"/>
            <p:cNvSpPr txBox="true"/>
            <p:nvPr/>
          </p:nvSpPr>
          <p:spPr>
            <a:xfrm>
              <a:off x="0" y="-28575"/>
              <a:ext cx="1136110" cy="344378"/>
            </a:xfrm>
            <a:prstGeom prst="rect">
              <a:avLst/>
            </a:prstGeom>
          </p:spPr>
          <p:txBody>
            <a:bodyPr anchor="ctr" rtlCol="false" tIns="50800" lIns="50800" bIns="50800" rIns="50800"/>
            <a:lstStyle/>
            <a:p>
              <a:pPr algn="ctr">
                <a:lnSpc>
                  <a:spcPts val="1460"/>
                </a:lnSpc>
              </a:pPr>
            </a:p>
          </p:txBody>
        </p:sp>
      </p:grpSp>
      <p:sp>
        <p:nvSpPr>
          <p:cNvPr name="Freeform 5" id="5"/>
          <p:cNvSpPr/>
          <p:nvPr/>
        </p:nvSpPr>
        <p:spPr>
          <a:xfrm flipH="false" flipV="false" rot="0">
            <a:off x="1932151" y="1347340"/>
            <a:ext cx="5439984" cy="3875988"/>
          </a:xfrm>
          <a:custGeom>
            <a:avLst/>
            <a:gdLst/>
            <a:ahLst/>
            <a:cxnLst/>
            <a:rect r="r" b="b" t="t" l="l"/>
            <a:pathLst>
              <a:path h="3875988" w="5439984">
                <a:moveTo>
                  <a:pt x="0" y="0"/>
                </a:moveTo>
                <a:lnTo>
                  <a:pt x="5439984" y="0"/>
                </a:lnTo>
                <a:lnTo>
                  <a:pt x="5439984" y="3875988"/>
                </a:lnTo>
                <a:lnTo>
                  <a:pt x="0" y="3875988"/>
                </a:lnTo>
                <a:lnTo>
                  <a:pt x="0" y="0"/>
                </a:lnTo>
                <a:close/>
              </a:path>
            </a:pathLst>
          </a:custGeom>
          <a:blipFill>
            <a:blip r:embed="rId2"/>
            <a:stretch>
              <a:fillRect l="0" t="0" r="0" b="0"/>
            </a:stretch>
          </a:blipFill>
        </p:spPr>
      </p:sp>
      <p:sp>
        <p:nvSpPr>
          <p:cNvPr name="TextBox 6" id="6"/>
          <p:cNvSpPr txBox="true"/>
          <p:nvPr/>
        </p:nvSpPr>
        <p:spPr>
          <a:xfrm rot="0">
            <a:off x="266151" y="788910"/>
            <a:ext cx="3332000" cy="402146"/>
          </a:xfrm>
          <a:prstGeom prst="rect">
            <a:avLst/>
          </a:prstGeom>
        </p:spPr>
        <p:txBody>
          <a:bodyPr anchor="t" rtlCol="false" tIns="0" lIns="0" bIns="0" rIns="0">
            <a:spAutoFit/>
          </a:bodyPr>
          <a:lstStyle/>
          <a:p>
            <a:pPr algn="ctr">
              <a:lnSpc>
                <a:spcPts val="3118"/>
              </a:lnSpc>
            </a:pPr>
            <a:r>
              <a:rPr lang="en-US" b="true" sz="2227">
                <a:solidFill>
                  <a:srgbClr val="004AAD"/>
                </a:solidFill>
                <a:latin typeface="Poppins Bold"/>
                <a:ea typeface="Poppins Bold"/>
                <a:cs typeface="Poppins Bold"/>
                <a:sym typeface="Poppins Bold"/>
              </a:rPr>
              <a:t> </a:t>
            </a:r>
            <a:r>
              <a:rPr lang="en-US" b="true" sz="2227">
                <a:solidFill>
                  <a:srgbClr val="004AAD"/>
                </a:solidFill>
                <a:latin typeface="Poppins Bold"/>
                <a:ea typeface="Poppins Bold"/>
                <a:cs typeface="Poppins Bold"/>
                <a:sym typeface="Poppins Bold"/>
              </a:rPr>
              <a:t>and c</a:t>
            </a:r>
            <a:r>
              <a:rPr lang="en-US" b="true" sz="2227">
                <a:solidFill>
                  <a:srgbClr val="004AAD"/>
                </a:solidFill>
                <a:latin typeface="Poppins Bold"/>
                <a:ea typeface="Poppins Bold"/>
                <a:cs typeface="Poppins Bold"/>
                <a:sym typeface="Poppins Bold"/>
              </a:rPr>
              <a:t>ONCLUSION</a:t>
            </a:r>
          </a:p>
        </p:txBody>
      </p:sp>
      <p:sp>
        <p:nvSpPr>
          <p:cNvPr name="TextBox 7" id="7"/>
          <p:cNvSpPr txBox="true"/>
          <p:nvPr/>
        </p:nvSpPr>
        <p:spPr>
          <a:xfrm rot="0">
            <a:off x="793620" y="381407"/>
            <a:ext cx="2079796" cy="428114"/>
          </a:xfrm>
          <a:prstGeom prst="rect">
            <a:avLst/>
          </a:prstGeom>
        </p:spPr>
        <p:txBody>
          <a:bodyPr anchor="t" rtlCol="false" tIns="0" lIns="0" bIns="0" rIns="0">
            <a:spAutoFit/>
          </a:bodyPr>
          <a:lstStyle/>
          <a:p>
            <a:pPr algn="ctr">
              <a:lnSpc>
                <a:spcPts val="3368"/>
              </a:lnSpc>
            </a:pPr>
            <a:r>
              <a:rPr lang="en-US" b="true" sz="2406">
                <a:solidFill>
                  <a:srgbClr val="FF9F29"/>
                </a:solidFill>
                <a:latin typeface="Poppins Bold"/>
                <a:ea typeface="Poppins Bold"/>
                <a:cs typeface="Poppins Bold"/>
                <a:sym typeface="Poppins Bold"/>
              </a:rPr>
              <a:t>KEY RESULTS</a:t>
            </a:r>
          </a:p>
        </p:txBody>
      </p:sp>
      <p:sp>
        <p:nvSpPr>
          <p:cNvPr name="TextBox 8" id="8"/>
          <p:cNvSpPr txBox="true"/>
          <p:nvPr/>
        </p:nvSpPr>
        <p:spPr>
          <a:xfrm rot="0">
            <a:off x="413584" y="5452546"/>
            <a:ext cx="8926431" cy="1643080"/>
          </a:xfrm>
          <a:prstGeom prst="rect">
            <a:avLst/>
          </a:prstGeom>
        </p:spPr>
        <p:txBody>
          <a:bodyPr anchor="t" rtlCol="false" tIns="0" lIns="0" bIns="0" rIns="0">
            <a:spAutoFit/>
          </a:bodyPr>
          <a:lstStyle/>
          <a:p>
            <a:pPr algn="l" marL="242590" indent="-121295" lvl="1">
              <a:lnSpc>
                <a:spcPts val="1460"/>
              </a:lnSpc>
              <a:buFont typeface="Arial"/>
              <a:buChar char="•"/>
            </a:pPr>
            <a:r>
              <a:rPr lang="en-US" b="true" sz="1123" spc="82">
                <a:solidFill>
                  <a:srgbClr val="000000"/>
                </a:solidFill>
                <a:latin typeface="Poppins Bold"/>
                <a:ea typeface="Poppins Bold"/>
                <a:cs typeface="Poppins Bold"/>
                <a:sym typeface="Poppins Bold"/>
              </a:rPr>
              <a:t>A</a:t>
            </a:r>
            <a:r>
              <a:rPr lang="en-US" b="true" sz="1123" spc="82">
                <a:solidFill>
                  <a:srgbClr val="000000"/>
                </a:solidFill>
                <a:latin typeface="Poppins Bold"/>
                <a:ea typeface="Poppins Bold"/>
                <a:cs typeface="Poppins Bold"/>
                <a:sym typeface="Poppins Bold"/>
              </a:rPr>
              <a:t>S THE QR PAYLOAD SIZE INCREASES, THE PSNR VALUES GRADUALLY DECREASE, INDICATING HIGHER DISTORTION DUE TO INCREASED EMBEDDING DENSITY.</a:t>
            </a:r>
          </a:p>
          <a:p>
            <a:pPr algn="l" marL="242590" indent="-121295" lvl="1">
              <a:lnSpc>
                <a:spcPts val="1460"/>
              </a:lnSpc>
              <a:buFont typeface="Arial"/>
              <a:buChar char="•"/>
            </a:pPr>
            <a:r>
              <a:rPr lang="en-US" b="true" sz="1123" spc="82">
                <a:solidFill>
                  <a:srgbClr val="000000"/>
                </a:solidFill>
                <a:latin typeface="Poppins Bold"/>
                <a:ea typeface="Poppins Bold"/>
                <a:cs typeface="Poppins Bold"/>
                <a:sym typeface="Poppins Bold"/>
              </a:rPr>
              <a:t>THE DROP IN PSNR FOLLOWS AN EXPONENTIAL DECAY TREND, AS LARGER PAYLOADS OCCUPY MORE PIXEL REGIONS.</a:t>
            </a:r>
          </a:p>
          <a:p>
            <a:pPr algn="l" marL="242590" indent="-121295" lvl="1">
              <a:lnSpc>
                <a:spcPts val="1460"/>
              </a:lnSpc>
              <a:buFont typeface="Arial"/>
              <a:buChar char="•"/>
            </a:pPr>
            <a:r>
              <a:rPr lang="en-US" b="true" sz="1123" spc="82">
                <a:solidFill>
                  <a:srgbClr val="000000"/>
                </a:solidFill>
                <a:latin typeface="Poppins Bold"/>
                <a:ea typeface="Poppins Bold"/>
                <a:cs typeface="Poppins Bold"/>
                <a:sym typeface="Poppins Bold"/>
              </a:rPr>
              <a:t>BOTH “ORIGINAL VS EMBEDDED” AND “EMBEDDED VS RECOVERED” CURVES SHOW CLOSELY ALIGNED TRENDS, CONFIRMING CONSISTENT EMBEDDING AND RECOVERY PERFORMANCE.</a:t>
            </a:r>
          </a:p>
          <a:p>
            <a:pPr algn="l" marL="242590" indent="-121295" lvl="1">
              <a:lnSpc>
                <a:spcPts val="1460"/>
              </a:lnSpc>
              <a:buFont typeface="Arial"/>
              <a:buChar char="•"/>
            </a:pPr>
            <a:r>
              <a:rPr lang="en-US" b="true" sz="1123" spc="82">
                <a:solidFill>
                  <a:srgbClr val="000000"/>
                </a:solidFill>
                <a:latin typeface="Poppins Bold"/>
                <a:ea typeface="Poppins Bold"/>
                <a:cs typeface="Poppins Bold"/>
                <a:sym typeface="Poppins Bold"/>
              </a:rPr>
              <a:t>DESPITE THE PSNR REDUCTION AT HIGHER PAYLOADS, THE RECOVERED IMAGE MAINTAINS STRUCTURAL INTEGRITY WITH MINIMAL PERCEPTUAL DEGRADATION.</a:t>
            </a:r>
          </a:p>
          <a:p>
            <a:pPr algn="l">
              <a:lnSpc>
                <a:spcPts val="1460"/>
              </a:lnSpc>
            </a:pP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AEDED"/>
        </a:solidFill>
      </p:bgPr>
    </p:bg>
    <p:spTree>
      <p:nvGrpSpPr>
        <p:cNvPr id="1" name=""/>
        <p:cNvGrpSpPr/>
        <p:nvPr/>
      </p:nvGrpSpPr>
      <p:grpSpPr>
        <a:xfrm>
          <a:off x="0" y="0"/>
          <a:ext cx="0" cy="0"/>
          <a:chOff x="0" y="0"/>
          <a:chExt cx="0" cy="0"/>
        </a:xfrm>
      </p:grpSpPr>
      <p:grpSp>
        <p:nvGrpSpPr>
          <p:cNvPr name="Group 2" id="2"/>
          <p:cNvGrpSpPr/>
          <p:nvPr/>
        </p:nvGrpSpPr>
        <p:grpSpPr>
          <a:xfrm rot="0">
            <a:off x="1955739" y="815258"/>
            <a:ext cx="6202477" cy="1299592"/>
            <a:chOff x="0" y="0"/>
            <a:chExt cx="2114855" cy="443121"/>
          </a:xfrm>
        </p:grpSpPr>
        <p:sp>
          <p:nvSpPr>
            <p:cNvPr name="Freeform 3" id="3"/>
            <p:cNvSpPr/>
            <p:nvPr/>
          </p:nvSpPr>
          <p:spPr>
            <a:xfrm flipH="false" flipV="false" rot="0">
              <a:off x="0" y="0"/>
              <a:ext cx="2114855" cy="443121"/>
            </a:xfrm>
            <a:custGeom>
              <a:avLst/>
              <a:gdLst/>
              <a:ahLst/>
              <a:cxnLst/>
              <a:rect r="r" b="b" t="t" l="l"/>
              <a:pathLst>
                <a:path h="443121" w="2114855">
                  <a:moveTo>
                    <a:pt x="0" y="0"/>
                  </a:moveTo>
                  <a:lnTo>
                    <a:pt x="2114855" y="0"/>
                  </a:lnTo>
                  <a:lnTo>
                    <a:pt x="2114855" y="443121"/>
                  </a:lnTo>
                  <a:lnTo>
                    <a:pt x="0" y="443121"/>
                  </a:lnTo>
                  <a:close/>
                </a:path>
              </a:pathLst>
            </a:custGeom>
            <a:solidFill>
              <a:srgbClr val="000000">
                <a:alpha val="0"/>
              </a:srgbClr>
            </a:solidFill>
            <a:ln w="19050" cap="sq">
              <a:solidFill>
                <a:srgbClr val="004AAD"/>
              </a:solidFill>
              <a:prstDash val="solid"/>
              <a:miter/>
            </a:ln>
          </p:spPr>
        </p:sp>
        <p:sp>
          <p:nvSpPr>
            <p:cNvPr name="TextBox 4" id="4"/>
            <p:cNvSpPr txBox="true"/>
            <p:nvPr/>
          </p:nvSpPr>
          <p:spPr>
            <a:xfrm>
              <a:off x="0" y="-28575"/>
              <a:ext cx="2114855" cy="471696"/>
            </a:xfrm>
            <a:prstGeom prst="rect">
              <a:avLst/>
            </a:prstGeom>
          </p:spPr>
          <p:txBody>
            <a:bodyPr anchor="ctr" rtlCol="false" tIns="50800" lIns="50800" bIns="50800" rIns="50800"/>
            <a:lstStyle/>
            <a:p>
              <a:pPr algn="ctr">
                <a:lnSpc>
                  <a:spcPts val="1460"/>
                </a:lnSpc>
              </a:pPr>
            </a:p>
          </p:txBody>
        </p:sp>
      </p:grpSp>
      <p:sp>
        <p:nvSpPr>
          <p:cNvPr name="TextBox 5" id="5"/>
          <p:cNvSpPr txBox="true"/>
          <p:nvPr/>
        </p:nvSpPr>
        <p:spPr>
          <a:xfrm rot="0">
            <a:off x="2043514" y="1350753"/>
            <a:ext cx="6026927" cy="684819"/>
          </a:xfrm>
          <a:prstGeom prst="rect">
            <a:avLst/>
          </a:prstGeom>
        </p:spPr>
        <p:txBody>
          <a:bodyPr anchor="t" rtlCol="false" tIns="0" lIns="0" bIns="0" rIns="0">
            <a:spAutoFit/>
          </a:bodyPr>
          <a:lstStyle/>
          <a:p>
            <a:pPr algn="ctr">
              <a:lnSpc>
                <a:spcPts val="5304"/>
              </a:lnSpc>
            </a:pPr>
            <a:r>
              <a:rPr lang="en-US" b="true" sz="3788">
                <a:solidFill>
                  <a:srgbClr val="004AAD"/>
                </a:solidFill>
                <a:latin typeface="Poppins Bold"/>
                <a:ea typeface="Poppins Bold"/>
                <a:cs typeface="Poppins Bold"/>
                <a:sym typeface="Poppins Bold"/>
              </a:rPr>
              <a:t>FUTURE ENHANCEMENTS</a:t>
            </a:r>
          </a:p>
        </p:txBody>
      </p:sp>
      <p:sp>
        <p:nvSpPr>
          <p:cNvPr name="TextBox 6" id="6"/>
          <p:cNvSpPr txBox="true"/>
          <p:nvPr/>
        </p:nvSpPr>
        <p:spPr>
          <a:xfrm rot="0">
            <a:off x="2871245" y="785041"/>
            <a:ext cx="4948032" cy="680013"/>
          </a:xfrm>
          <a:prstGeom prst="rect">
            <a:avLst/>
          </a:prstGeom>
        </p:spPr>
        <p:txBody>
          <a:bodyPr anchor="t" rtlCol="false" tIns="0" lIns="0" bIns="0" rIns="0">
            <a:spAutoFit/>
          </a:bodyPr>
          <a:lstStyle/>
          <a:p>
            <a:pPr algn="ctr">
              <a:lnSpc>
                <a:spcPts val="5361"/>
              </a:lnSpc>
            </a:pPr>
            <a:r>
              <a:rPr lang="en-US" b="true" sz="3829">
                <a:solidFill>
                  <a:srgbClr val="FF9F29"/>
                </a:solidFill>
                <a:latin typeface="Poppins Bold"/>
                <a:ea typeface="Poppins Bold"/>
                <a:cs typeface="Poppins Bold"/>
                <a:sym typeface="Poppins Bold"/>
              </a:rPr>
              <a:t>KEY FINDINGS AND </a:t>
            </a:r>
          </a:p>
        </p:txBody>
      </p:sp>
      <p:sp>
        <p:nvSpPr>
          <p:cNvPr name="TextBox 7" id="7"/>
          <p:cNvSpPr txBox="true"/>
          <p:nvPr/>
        </p:nvSpPr>
        <p:spPr>
          <a:xfrm rot="0">
            <a:off x="810450" y="2543683"/>
            <a:ext cx="8493054" cy="3558648"/>
          </a:xfrm>
          <a:prstGeom prst="rect">
            <a:avLst/>
          </a:prstGeom>
        </p:spPr>
        <p:txBody>
          <a:bodyPr anchor="t" rtlCol="false" tIns="0" lIns="0" bIns="0" rIns="0">
            <a:spAutoFit/>
          </a:bodyPr>
          <a:lstStyle/>
          <a:p>
            <a:pPr algn="l">
              <a:lnSpc>
                <a:spcPts val="2608"/>
              </a:lnSpc>
            </a:pPr>
            <a:r>
              <a:rPr lang="en-US" b="true" sz="1837">
                <a:solidFill>
                  <a:srgbClr val="000000"/>
                </a:solidFill>
                <a:latin typeface="Montserrat Bold"/>
                <a:ea typeface="Montserrat Bold"/>
                <a:cs typeface="Montserrat Bold"/>
                <a:sym typeface="Montserrat Bold"/>
              </a:rPr>
              <a:t>KEY</a:t>
            </a:r>
            <a:r>
              <a:rPr lang="en-US" b="true" sz="1837">
                <a:solidFill>
                  <a:srgbClr val="000000"/>
                </a:solidFill>
                <a:latin typeface="Montserrat Bold"/>
                <a:ea typeface="Montserrat Bold"/>
                <a:cs typeface="Montserrat Bold"/>
                <a:sym typeface="Montserrat Bold"/>
              </a:rPr>
              <a:t> FINDINGS</a:t>
            </a:r>
          </a:p>
          <a:p>
            <a:pPr algn="l" marL="396621" indent="-198310" lvl="1">
              <a:lnSpc>
                <a:spcPts val="2608"/>
              </a:lnSpc>
              <a:buFont typeface="Arial"/>
              <a:buChar char="•"/>
            </a:pPr>
            <a:r>
              <a:rPr lang="en-US" sz="1837">
                <a:solidFill>
                  <a:srgbClr val="000000"/>
                </a:solidFill>
                <a:latin typeface="Montserrat"/>
                <a:ea typeface="Montserrat"/>
                <a:cs typeface="Montserrat"/>
                <a:sym typeface="Montserrat"/>
              </a:rPr>
              <a:t>Achieved</a:t>
            </a:r>
            <a:r>
              <a:rPr lang="en-US" sz="1837">
                <a:solidFill>
                  <a:srgbClr val="000000"/>
                </a:solidFill>
                <a:latin typeface="Montserrat"/>
                <a:ea typeface="Montserrat"/>
                <a:cs typeface="Montserrat"/>
                <a:sym typeface="Montserrat"/>
              </a:rPr>
              <a:t> high embedding capacity with perfect recov</a:t>
            </a:r>
            <a:r>
              <a:rPr lang="en-US" sz="1837">
                <a:solidFill>
                  <a:srgbClr val="000000"/>
                </a:solidFill>
                <a:latin typeface="Montserrat"/>
                <a:ea typeface="Montserrat"/>
                <a:cs typeface="Montserrat"/>
                <a:sym typeface="Montserrat"/>
              </a:rPr>
              <a:t>ery.</a:t>
            </a:r>
          </a:p>
          <a:p>
            <a:pPr algn="l" marL="396621" indent="-198310" lvl="1">
              <a:lnSpc>
                <a:spcPts val="2608"/>
              </a:lnSpc>
              <a:buFont typeface="Arial"/>
              <a:buChar char="•"/>
            </a:pPr>
            <a:r>
              <a:rPr lang="en-US" sz="1837">
                <a:solidFill>
                  <a:srgbClr val="000000"/>
                </a:solidFill>
                <a:latin typeface="Montserrat"/>
                <a:ea typeface="Montserrat"/>
                <a:cs typeface="Montserrat"/>
                <a:sym typeface="Montserrat"/>
              </a:rPr>
              <a:t>Maintained excellent</a:t>
            </a:r>
            <a:r>
              <a:rPr lang="en-US" sz="1837">
                <a:solidFill>
                  <a:srgbClr val="000000"/>
                </a:solidFill>
                <a:latin typeface="Montserrat"/>
                <a:ea typeface="Montserrat"/>
                <a:cs typeface="Montserrat"/>
                <a:sym typeface="Montserrat"/>
              </a:rPr>
              <a:t> image quality (SSIM &gt; 0.95).</a:t>
            </a:r>
          </a:p>
          <a:p>
            <a:pPr algn="l" marL="396621" indent="-198310" lvl="1">
              <a:lnSpc>
                <a:spcPts val="2608"/>
              </a:lnSpc>
              <a:buFont typeface="Arial"/>
              <a:buChar char="•"/>
            </a:pPr>
            <a:r>
              <a:rPr lang="en-US" sz="1837">
                <a:solidFill>
                  <a:srgbClr val="000000"/>
                </a:solidFill>
                <a:latin typeface="Montserrat"/>
                <a:ea typeface="Montserrat"/>
                <a:cs typeface="Montserrat"/>
                <a:sym typeface="Montserrat"/>
              </a:rPr>
              <a:t>Ensured QR readability and data integrity post-embedding.</a:t>
            </a:r>
          </a:p>
          <a:p>
            <a:pPr algn="l">
              <a:lnSpc>
                <a:spcPts val="2608"/>
              </a:lnSpc>
            </a:pPr>
          </a:p>
          <a:p>
            <a:pPr algn="l">
              <a:lnSpc>
                <a:spcPts val="2608"/>
              </a:lnSpc>
            </a:pPr>
            <a:r>
              <a:rPr lang="en-US" b="true" sz="1837">
                <a:solidFill>
                  <a:srgbClr val="000000"/>
                </a:solidFill>
                <a:latin typeface="Montserrat Bold"/>
                <a:ea typeface="Montserrat Bold"/>
                <a:cs typeface="Montserrat Bold"/>
                <a:sym typeface="Montserrat Bold"/>
              </a:rPr>
              <a:t>FUTURE ENHANCEMENTS</a:t>
            </a:r>
          </a:p>
          <a:p>
            <a:pPr algn="l" marL="396621" indent="-198310" lvl="1">
              <a:lnSpc>
                <a:spcPts val="2608"/>
              </a:lnSpc>
              <a:buFont typeface="Arial"/>
              <a:buChar char="•"/>
            </a:pPr>
            <a:r>
              <a:rPr lang="en-US" sz="1837">
                <a:solidFill>
                  <a:srgbClr val="000000"/>
                </a:solidFill>
                <a:latin typeface="Montserrat"/>
                <a:ea typeface="Montserrat"/>
                <a:cs typeface="Montserrat"/>
                <a:sym typeface="Montserrat"/>
              </a:rPr>
              <a:t>Extend to color images and video frames.</a:t>
            </a:r>
          </a:p>
          <a:p>
            <a:pPr algn="l" marL="396621" indent="-198310" lvl="1">
              <a:lnSpc>
                <a:spcPts val="2608"/>
              </a:lnSpc>
              <a:buFont typeface="Arial"/>
              <a:buChar char="•"/>
            </a:pPr>
            <a:r>
              <a:rPr lang="en-US" sz="1837">
                <a:solidFill>
                  <a:srgbClr val="000000"/>
                </a:solidFill>
                <a:latin typeface="Montserrat"/>
                <a:ea typeface="Montserrat"/>
                <a:cs typeface="Montserrat"/>
                <a:sym typeface="Montserrat"/>
              </a:rPr>
              <a:t>Use adaptive region selection for higher capacity.</a:t>
            </a:r>
          </a:p>
          <a:p>
            <a:pPr algn="l" marL="396621" indent="-198310" lvl="1">
              <a:lnSpc>
                <a:spcPts val="2608"/>
              </a:lnSpc>
              <a:buFont typeface="Arial"/>
              <a:buChar char="•"/>
            </a:pPr>
            <a:r>
              <a:rPr lang="en-US" sz="1837">
                <a:solidFill>
                  <a:srgbClr val="000000"/>
                </a:solidFill>
                <a:latin typeface="Montserrat"/>
                <a:ea typeface="Montserrat"/>
                <a:cs typeface="Montserrat"/>
                <a:sym typeface="Montserrat"/>
              </a:rPr>
              <a:t>Add encryption and deep learning-based optimization for better security and payload efficiency.</a:t>
            </a:r>
          </a:p>
          <a:p>
            <a:pPr algn="l">
              <a:lnSpc>
                <a:spcPts val="2608"/>
              </a:lnSpc>
            </a:pP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AEDED"/>
        </a:solidFill>
      </p:bgPr>
    </p:bg>
    <p:spTree>
      <p:nvGrpSpPr>
        <p:cNvPr id="1" name=""/>
        <p:cNvGrpSpPr/>
        <p:nvPr/>
      </p:nvGrpSpPr>
      <p:grpSpPr>
        <a:xfrm>
          <a:off x="0" y="0"/>
          <a:ext cx="0" cy="0"/>
          <a:chOff x="0" y="0"/>
          <a:chExt cx="0" cy="0"/>
        </a:xfrm>
      </p:grpSpPr>
      <p:sp>
        <p:nvSpPr>
          <p:cNvPr name="TextBox 2" id="2"/>
          <p:cNvSpPr txBox="true"/>
          <p:nvPr/>
        </p:nvSpPr>
        <p:spPr>
          <a:xfrm rot="0">
            <a:off x="731520" y="2550663"/>
            <a:ext cx="8282346" cy="1909074"/>
          </a:xfrm>
          <a:prstGeom prst="rect">
            <a:avLst/>
          </a:prstGeom>
        </p:spPr>
        <p:txBody>
          <a:bodyPr anchor="t" rtlCol="false" tIns="0" lIns="0" bIns="0" rIns="0">
            <a:spAutoFit/>
          </a:bodyPr>
          <a:lstStyle/>
          <a:p>
            <a:pPr algn="ctr">
              <a:lnSpc>
                <a:spcPts val="14983"/>
              </a:lnSpc>
              <a:spcBef>
                <a:spcPct val="0"/>
              </a:spcBef>
            </a:pPr>
            <a:r>
              <a:rPr lang="en-US" b="true" sz="10702">
                <a:solidFill>
                  <a:srgbClr val="000000"/>
                </a:solidFill>
                <a:latin typeface="Poppins Bold"/>
                <a:ea typeface="Poppins Bold"/>
                <a:cs typeface="Poppins Bold"/>
                <a:sym typeface="Poppins Bold"/>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DAG4l-Kjxls</dc:identifier>
  <dcterms:modified xsi:type="dcterms:W3CDTF">2011-08-01T06:04:30Z</dcterms:modified>
  <cp:revision>1</cp:revision>
  <dc:title>Copy of DIP YT</dc:title>
</cp:coreProperties>
</file>